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27" r:id="rId2"/>
    <p:sldId id="330" r:id="rId3"/>
    <p:sldId id="451" r:id="rId4"/>
    <p:sldId id="452" r:id="rId5"/>
    <p:sldId id="454" r:id="rId6"/>
    <p:sldId id="455" r:id="rId7"/>
    <p:sldId id="456" r:id="rId8"/>
    <p:sldId id="457" r:id="rId9"/>
    <p:sldId id="458" r:id="rId10"/>
    <p:sldId id="459" r:id="rId11"/>
    <p:sldId id="460" r:id="rId12"/>
    <p:sldId id="394" r:id="rId13"/>
    <p:sldId id="461" r:id="rId14"/>
    <p:sldId id="464" r:id="rId15"/>
    <p:sldId id="346" r:id="rId16"/>
    <p:sldId id="463" r:id="rId17"/>
    <p:sldId id="337" r:id="rId18"/>
    <p:sldId id="466" r:id="rId19"/>
    <p:sldId id="449" r:id="rId20"/>
    <p:sldId id="411" r:id="rId21"/>
    <p:sldId id="420" r:id="rId22"/>
    <p:sldId id="425" r:id="rId23"/>
    <p:sldId id="467" r:id="rId24"/>
    <p:sldId id="468" r:id="rId25"/>
    <p:sldId id="462" r:id="rId26"/>
    <p:sldId id="435" r:id="rId27"/>
    <p:sldId id="437" r:id="rId28"/>
    <p:sldId id="434" r:id="rId29"/>
    <p:sldId id="438" r:id="rId30"/>
    <p:sldId id="443" r:id="rId31"/>
    <p:sldId id="444" r:id="rId32"/>
    <p:sldId id="404" r:id="rId33"/>
    <p:sldId id="447" r:id="rId34"/>
    <p:sldId id="445" r:id="rId35"/>
    <p:sldId id="446" r:id="rId36"/>
    <p:sldId id="418" r:id="rId37"/>
    <p:sldId id="413" r:id="rId38"/>
    <p:sldId id="448" r:id="rId39"/>
    <p:sldId id="469" r:id="rId40"/>
    <p:sldId id="470" r:id="rId41"/>
  </p:sldIdLst>
  <p:sldSz cx="9144000" cy="5143500" type="screen16x9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7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4F81BD"/>
    <a:srgbClr val="82A5D0"/>
    <a:srgbClr val="244B7A"/>
    <a:srgbClr val="152C47"/>
    <a:srgbClr val="16263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1182" autoAdjust="0"/>
  </p:normalViewPr>
  <p:slideViewPr>
    <p:cSldViewPr>
      <p:cViewPr varScale="1">
        <p:scale>
          <a:sx n="125" d="100"/>
          <a:sy n="125" d="100"/>
        </p:scale>
        <p:origin x="678" y="1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09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238"/>
    </p:cViewPr>
  </p:sorterViewPr>
  <p:notesViewPr>
    <p:cSldViewPr>
      <p:cViewPr varScale="1">
        <p:scale>
          <a:sx n="88" d="100"/>
          <a:sy n="88" d="100"/>
        </p:scale>
        <p:origin x="3696" y="102"/>
      </p:cViewPr>
      <p:guideLst>
        <p:guide orient="horz" pos="2927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93" cy="4645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14" y="1"/>
            <a:ext cx="3037893" cy="46458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7860903-D47C-4175-9339-C308784311C4}" type="datetimeFigureOut">
              <a:rPr lang="en-US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228"/>
            <a:ext cx="3037893" cy="4645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14" y="8830228"/>
            <a:ext cx="3037893" cy="46458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F16B938-B238-4447-8454-8E727EA96C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035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93" cy="464581"/>
          </a:xfrm>
          <a:prstGeom prst="rect">
            <a:avLst/>
          </a:prstGeom>
        </p:spPr>
        <p:txBody>
          <a:bodyPr vert="horz" lIns="92940" tIns="46470" rIns="92940" bIns="4647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14" y="1"/>
            <a:ext cx="3037893" cy="464581"/>
          </a:xfrm>
          <a:prstGeom prst="rect">
            <a:avLst/>
          </a:prstGeom>
        </p:spPr>
        <p:txBody>
          <a:bodyPr vert="horz" wrap="square" lIns="92940" tIns="46470" rIns="92940" bIns="4647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BE5A727-D028-4240-8735-FD7755BB20BF}" type="datetimeFigureOut">
              <a:rPr lang="en-US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40" tIns="46470" rIns="92940" bIns="4647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563" y="4415115"/>
            <a:ext cx="5609276" cy="4184414"/>
          </a:xfrm>
          <a:prstGeom prst="rect">
            <a:avLst/>
          </a:prstGeom>
        </p:spPr>
        <p:txBody>
          <a:bodyPr vert="horz" lIns="92940" tIns="46470" rIns="92940" bIns="4647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228"/>
            <a:ext cx="3037893" cy="464581"/>
          </a:xfrm>
          <a:prstGeom prst="rect">
            <a:avLst/>
          </a:prstGeom>
        </p:spPr>
        <p:txBody>
          <a:bodyPr vert="horz" lIns="92940" tIns="46470" rIns="92940" bIns="4647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14" y="8830228"/>
            <a:ext cx="3037893" cy="464581"/>
          </a:xfrm>
          <a:prstGeom prst="rect">
            <a:avLst/>
          </a:prstGeom>
        </p:spPr>
        <p:txBody>
          <a:bodyPr vert="horz" wrap="square" lIns="92940" tIns="46470" rIns="92940" bIns="4647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CE5E82C-1C30-48E5-B078-266901ED34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629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07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65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19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63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02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58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72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9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23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3BC827-075D-4B9D-9316-8DD246DE85A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23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91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91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810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47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469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4801" y="4343402"/>
            <a:ext cx="6324600" cy="4256129"/>
          </a:xfrm>
        </p:spPr>
        <p:txBody>
          <a:bodyPr>
            <a:noAutofit/>
          </a:bodyPr>
          <a:lstStyle/>
          <a:p>
            <a:r>
              <a:rPr lang="en-US" sz="1200" dirty="0" err="1" smtClean="0"/>
              <a:t>At+creg</a:t>
            </a:r>
            <a:r>
              <a:rPr lang="en-US" sz="1200" dirty="0" smtClean="0"/>
              <a:t>?</a:t>
            </a:r>
            <a:r>
              <a:rPr lang="en-US" sz="1200" baseline="0" dirty="0" smtClean="0"/>
              <a:t> Responses</a:t>
            </a:r>
          </a:p>
          <a:p>
            <a:r>
              <a:rPr lang="en-US" sz="1200" baseline="0" dirty="0" smtClean="0"/>
              <a:t>-------------------------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+CREG: 0,2 not registered to a network but looking   (device</a:t>
            </a:r>
            <a:r>
              <a:rPr lang="en-US" sz="1200" baseline="0" dirty="0" smtClean="0"/>
              <a:t> hasn’t established a link to the carrier yet)</a:t>
            </a:r>
          </a:p>
          <a:p>
            <a:r>
              <a:rPr lang="en-US" sz="1200" dirty="0" smtClean="0"/>
              <a:t>+CREG: </a:t>
            </a:r>
            <a:r>
              <a:rPr lang="en-US" sz="1200" u="sng" dirty="0" smtClean="0"/>
              <a:t>0,1 registered on the home network</a:t>
            </a:r>
          </a:p>
          <a:p>
            <a:r>
              <a:rPr lang="en-US" sz="1200" dirty="0" smtClean="0"/>
              <a:t>+CREG: </a:t>
            </a:r>
            <a:r>
              <a:rPr lang="en-US" sz="1200" u="sng" dirty="0" smtClean="0"/>
              <a:t>0,5</a:t>
            </a:r>
            <a:r>
              <a:rPr lang="en-US" sz="1200" u="sng" baseline="0" dirty="0" smtClean="0"/>
              <a:t> registered but roaming  </a:t>
            </a:r>
          </a:p>
          <a:p>
            <a:r>
              <a:rPr lang="en-US" sz="1200" dirty="0" smtClean="0"/>
              <a:t>+CREG: </a:t>
            </a:r>
            <a:r>
              <a:rPr lang="en-US" sz="1200" u="sng" baseline="0" dirty="0" smtClean="0"/>
              <a:t>0,3 unknown (bad)</a:t>
            </a:r>
          </a:p>
          <a:p>
            <a:r>
              <a:rPr lang="en-US" sz="1200" dirty="0" smtClean="0"/>
              <a:t>+CREG: </a:t>
            </a:r>
            <a:r>
              <a:rPr lang="en-US" sz="1200" u="sng" baseline="0" dirty="0" smtClean="0"/>
              <a:t>0,4 unknown (bad)</a:t>
            </a:r>
          </a:p>
          <a:p>
            <a:r>
              <a:rPr lang="en-US" sz="1200" dirty="0" smtClean="0"/>
              <a:t>+CREG: </a:t>
            </a:r>
            <a:r>
              <a:rPr lang="en-US" sz="1200" u="sng" baseline="0" dirty="0" smtClean="0"/>
              <a:t>0,0 unregistered and not looking  (</a:t>
            </a:r>
            <a:r>
              <a:rPr lang="en-US" sz="1200" u="sng" baseline="0" dirty="0" err="1" smtClean="0"/>
              <a:t>sim</a:t>
            </a:r>
            <a:r>
              <a:rPr lang="en-US" sz="1200" u="sng" baseline="0" dirty="0" smtClean="0"/>
              <a:t> isn’t: installed, </a:t>
            </a:r>
            <a:r>
              <a:rPr lang="en-US" sz="1200" u="sng" baseline="0" dirty="0" err="1" smtClean="0"/>
              <a:t>inplace</a:t>
            </a:r>
            <a:r>
              <a:rPr lang="en-US" sz="1200" u="sng" baseline="0" dirty="0" smtClean="0"/>
              <a:t> correctly , functional, active) </a:t>
            </a:r>
          </a:p>
          <a:p>
            <a:endParaRPr lang="en-US" sz="1200" u="sng" baseline="0" dirty="0" smtClean="0"/>
          </a:p>
          <a:p>
            <a:r>
              <a:rPr lang="en-US" sz="1200" u="sng" baseline="0" dirty="0" err="1" smtClean="0"/>
              <a:t>at+csq</a:t>
            </a:r>
            <a:r>
              <a:rPr lang="en-US" sz="1200" u="sng" baseline="0" dirty="0" smtClean="0"/>
              <a:t>:  &gt;10 is better but it will function at lower levels.</a:t>
            </a:r>
          </a:p>
          <a:p>
            <a:r>
              <a:rPr lang="en-US" sz="1200" u="sng" baseline="0" dirty="0" smtClean="0"/>
              <a:t>Reference Signal Levels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 0 = -113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 = -111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 = -109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3 = -107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4 = -105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 5 = -103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6 = -101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7 = -99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  8 = -97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 9 = -95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10 = -93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11 = -91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12 = -89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13 = -87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14 = -85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15 = -83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16 = -81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17 = -79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18 = -77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19 = -75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20 = -73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21 = -71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22 = -69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23 = -67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24 = -65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25 = -63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26 = -61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</a:t>
            </a:r>
            <a:r>
              <a:rPr lang="en-US" sz="1200" kern="1200" baseline="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27 = -59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28 = -57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29 = -55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30 = -53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, 31 = -51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+mn-cs"/>
              </a:rPr>
              <a:t>dBm</a:t>
            </a:r>
            <a:endParaRPr lang="en-US" sz="1200" u="sng" baseline="0" dirty="0" smtClean="0"/>
          </a:p>
          <a:p>
            <a:endParaRPr lang="en-US" sz="1200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4801" y="4343402"/>
            <a:ext cx="6324600" cy="4256129"/>
          </a:xfrm>
        </p:spPr>
        <p:txBody>
          <a:bodyPr>
            <a:noAutofit/>
          </a:bodyPr>
          <a:lstStyle/>
          <a:p>
            <a:pPr defTabSz="916686"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4801" y="4343402"/>
            <a:ext cx="6324600" cy="4256129"/>
          </a:xfrm>
        </p:spPr>
        <p:txBody>
          <a:bodyPr>
            <a:noAutofit/>
          </a:bodyPr>
          <a:lstStyle/>
          <a:p>
            <a:pPr defTabSz="916686"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304801" y="4343402"/>
            <a:ext cx="6324600" cy="4256129"/>
          </a:xfrm>
        </p:spPr>
        <p:txBody>
          <a:bodyPr>
            <a:noAutofit/>
          </a:bodyPr>
          <a:lstStyle/>
          <a:p>
            <a:pPr defTabSz="916686"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49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1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 smtClean="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369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182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41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96913"/>
            <a:ext cx="6223000" cy="35004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986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182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E5E82C-1C30-48E5-B078-266901ED34B4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7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1.png"/><Relationship Id="rId3" Type="http://schemas.openxmlformats.org/officeDocument/2006/relationships/image" Target="../media/image16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0.png"/><Relationship Id="rId2" Type="http://schemas.openxmlformats.org/officeDocument/2006/relationships/image" Target="../media/image27.png"/><Relationship Id="rId16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1.png"/><Relationship Id="rId10" Type="http://schemas.openxmlformats.org/officeDocument/2006/relationships/image" Target="../media/image34.png"/><Relationship Id="rId19" Type="http://schemas.openxmlformats.org/officeDocument/2006/relationships/image" Target="../media/image42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" name="Picture 26" descr="MTS_Circuit_Pattern_Grid_Texture_STRIP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43" r="19501"/>
          <a:stretch>
            <a:fillRect/>
          </a:stretch>
        </p:blipFill>
        <p:spPr bwMode="auto">
          <a:xfrm>
            <a:off x="0" y="3544888"/>
            <a:ext cx="91440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63" y="3943350"/>
            <a:ext cx="45561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37607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50" y="37607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66800" y="4171950"/>
            <a:ext cx="228600" cy="152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38" descr="logo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200150"/>
            <a:ext cx="65944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0" y="3087688"/>
            <a:ext cx="65881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440055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3495675"/>
            <a:ext cx="30956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716338"/>
            <a:ext cx="762000" cy="7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75"/>
          <a:stretch>
            <a:fillRect/>
          </a:stretch>
        </p:blipFill>
        <p:spPr bwMode="auto">
          <a:xfrm>
            <a:off x="8640763" y="3409950"/>
            <a:ext cx="50323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332163"/>
            <a:ext cx="455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75"/>
          <a:stretch>
            <a:fillRect/>
          </a:stretch>
        </p:blipFill>
        <p:spPr bwMode="auto">
          <a:xfrm>
            <a:off x="8640763" y="3409950"/>
            <a:ext cx="503237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4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333750"/>
            <a:ext cx="4556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0" y="4972050"/>
            <a:ext cx="9144000" cy="17145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9" name="Picture 49" descr="PATTERN-LARGE-20perc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6502" r="7706" b="85167"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0" descr="PATTERN-LARGE-20percent.png"/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9724" r="7706" b="86040"/>
          <a:stretch>
            <a:fillRect/>
          </a:stretch>
        </p:blipFill>
        <p:spPr bwMode="auto">
          <a:xfrm>
            <a:off x="0" y="4970463"/>
            <a:ext cx="914400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51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0" y="3086100"/>
            <a:ext cx="658813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5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3714750"/>
            <a:ext cx="7620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3495675"/>
            <a:ext cx="309562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3539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w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26" descr="MTS_Circuit_Pattern_Grid_Texture_STRIP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7" r="18402"/>
          <a:stretch>
            <a:fillRect/>
          </a:stretch>
        </p:blipFill>
        <p:spPr bwMode="auto">
          <a:xfrm>
            <a:off x="9525" y="3922713"/>
            <a:ext cx="8991600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2000" y="4087813"/>
            <a:ext cx="152400" cy="460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8763000" y="4370388"/>
            <a:ext cx="76200" cy="76200"/>
          </a:xfrm>
          <a:prstGeom prst="ellips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31" descr="log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742950"/>
            <a:ext cx="571500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0" y="3487738"/>
            <a:ext cx="565150" cy="1125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3895725"/>
            <a:ext cx="2301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4572000"/>
            <a:ext cx="171450" cy="17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057650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0" y="3486150"/>
            <a:ext cx="565150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4057650"/>
            <a:ext cx="57150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13" y="3895725"/>
            <a:ext cx="2301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44"/>
          <p:cNvGrpSpPr>
            <a:grpSpLocks/>
          </p:cNvGrpSpPr>
          <p:nvPr/>
        </p:nvGrpSpPr>
        <p:grpSpPr bwMode="auto">
          <a:xfrm>
            <a:off x="8629650" y="3771900"/>
            <a:ext cx="514350" cy="825500"/>
            <a:chOff x="8458200" y="3771258"/>
            <a:chExt cx="685800" cy="826579"/>
          </a:xfrm>
        </p:grpSpPr>
        <p:pic>
          <p:nvPicPr>
            <p:cNvPr id="17" name="Picture 45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75"/>
            <a:stretch>
              <a:fillRect/>
            </a:stretch>
          </p:blipFill>
          <p:spPr bwMode="auto">
            <a:xfrm>
              <a:off x="8640620" y="3829214"/>
              <a:ext cx="503380" cy="768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46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3771258"/>
              <a:ext cx="456344" cy="341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47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75"/>
            <a:stretch>
              <a:fillRect/>
            </a:stretch>
          </p:blipFill>
          <p:spPr bwMode="auto">
            <a:xfrm>
              <a:off x="8640620" y="3829213"/>
              <a:ext cx="503380" cy="768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48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8200" y="3772063"/>
              <a:ext cx="456344" cy="341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" name="Rectangle 2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22" name="Picture 50" descr="PATTERN-LARGE-20percent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6502" r="7706" b="85167"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51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38" y="4229100"/>
            <a:ext cx="3429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52"/>
          <p:cNvGrpSpPr>
            <a:grpSpLocks/>
          </p:cNvGrpSpPr>
          <p:nvPr/>
        </p:nvGrpSpPr>
        <p:grpSpPr bwMode="auto">
          <a:xfrm>
            <a:off x="7908925" y="4087813"/>
            <a:ext cx="228600" cy="228600"/>
            <a:chOff x="7924800" y="4113942"/>
            <a:chExt cx="228172" cy="228761"/>
          </a:xfrm>
        </p:grpSpPr>
        <p:pic>
          <p:nvPicPr>
            <p:cNvPr id="25" name="Picture 53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4113942"/>
              <a:ext cx="228172" cy="227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54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4800" y="4114963"/>
              <a:ext cx="228172" cy="227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" name="Picture 5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4171950"/>
            <a:ext cx="227012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56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4173538"/>
            <a:ext cx="227012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0" y="4972050"/>
            <a:ext cx="9144000" cy="17145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0" name="Picture 58" descr="PATTERN-LARGE-20percent.png"/>
          <p:cNvPicPr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9724" r="7706" b="86040"/>
          <a:stretch>
            <a:fillRect/>
          </a:stretch>
        </p:blipFill>
        <p:spPr bwMode="auto">
          <a:xfrm>
            <a:off x="0" y="4970463"/>
            <a:ext cx="914400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885950"/>
            <a:ext cx="8229600" cy="1981200"/>
          </a:xfrm>
          <a:noFill/>
        </p:spPr>
        <p:txBody>
          <a:bodyPr lIns="0" tIns="45720" rIns="0"/>
          <a:lstStyle>
            <a:lvl1pPr algn="ctr">
              <a:lnSpc>
                <a:spcPct val="100000"/>
              </a:lnSpc>
              <a:defRPr sz="2000" b="0" spc="-2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34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3519"/>
            <a:ext cx="8229600" cy="1102519"/>
          </a:xfrm>
        </p:spPr>
        <p:txBody>
          <a:bodyPr lIns="0" rIns="0" anchor="t"/>
          <a:lstStyle>
            <a:lvl1pPr algn="ctr">
              <a:defRPr sz="4400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00350"/>
            <a:ext cx="8229600" cy="1314450"/>
          </a:xfrm>
        </p:spPr>
        <p:txBody>
          <a:bodyPr lIns="0" rIns="0"/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ECCEA-9766-4192-9DA7-5ADF6E55D58F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16BC4-64BF-4C02-8618-7C90E10E8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2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28750"/>
            <a:ext cx="8458200" cy="3429000"/>
          </a:xfrm>
        </p:spPr>
        <p:txBody>
          <a:bodyPr/>
          <a:lstStyle>
            <a:lvl1pPr>
              <a:buFont typeface="Arial" pitchFamily="34" charset="0"/>
              <a:buNone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</a:tabLst>
              <a:defRPr sz="1800" spc="-50" baseline="0"/>
            </a:lvl1pPr>
            <a:lvl2pPr>
              <a:buFont typeface="Arial" pitchFamily="34" charset="0"/>
              <a:buChar char="•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</a:tabLst>
              <a:defRPr sz="1800" spc="-50" baseline="0"/>
            </a:lvl2pPr>
            <a:lvl3pPr>
              <a:buFont typeface="Arial" pitchFamily="34" charset="0"/>
              <a:buChar char="•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</a:tabLst>
              <a:defRPr sz="1600" spc="-50" baseline="0"/>
            </a:lvl3pPr>
            <a:lvl4pPr>
              <a:buFont typeface="Arial" pitchFamily="34" charset="0"/>
              <a:buChar char="•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</a:tabLst>
              <a:defRPr sz="1400" spc="-50" baseline="0"/>
            </a:lvl4pPr>
            <a:lvl5pPr>
              <a:buFont typeface="Arial" pitchFamily="34" charset="0"/>
              <a:buChar char="•"/>
              <a:tabLst>
                <a:tab pos="228600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</a:tabLst>
              <a:defRPr sz="1200" spc="-50" baseline="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571500"/>
            <a:ext cx="8458200" cy="857250"/>
          </a:xfrm>
        </p:spPr>
        <p:txBody>
          <a:bodyPr/>
          <a:lstStyle>
            <a:lvl1pPr>
              <a:lnSpc>
                <a:spcPct val="85000"/>
              </a:lnSpc>
              <a:defRPr spc="-50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02101-D728-4CEA-8A0A-6A61E9FAAD9C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6CF84-9191-42E3-A5DE-5E8AEB66E0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88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09463B-5918-4CD0-85C6-A6BEC3672A01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273D6-E817-43F6-B5EC-9093733D2A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5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71500"/>
            <a:ext cx="8458200" cy="8572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428751"/>
            <a:ext cx="4191000" cy="3428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428750"/>
            <a:ext cx="4191000" cy="3429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37609-052A-4B6C-92B0-DDF7F32631C6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67799-C244-4380-BE59-48C45A2565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428750"/>
            <a:ext cx="4192588" cy="46553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1894284"/>
            <a:ext cx="4192588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6" y="1428750"/>
            <a:ext cx="4117974" cy="46553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6" y="1894284"/>
            <a:ext cx="4117974" cy="296346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02FAD-796B-4D3B-83C6-A28031E6660E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E5A83-B57B-4DF8-B6E9-D7A65CE1AC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8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71500"/>
            <a:ext cx="8458200" cy="8572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DC6CC-C4A7-4EF7-864C-6F7EFA30616A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00A62-CDA8-48AE-9085-F3C0893F37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6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9AC750-4930-4953-8CFC-B6478CC7B2AB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DA182-7427-497F-9B5F-A969C51D44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4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028700"/>
            <a:ext cx="27797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28701"/>
            <a:ext cx="5111750" cy="3886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885951"/>
            <a:ext cx="2779713" cy="30289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9729-0C06-4D2D-98DA-CED15842AF8E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6BA99-A01F-45F5-9860-D54EFE0806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43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8620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028700"/>
            <a:ext cx="5486400" cy="28027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31125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ECA91-15E4-4A20-AA52-DF215BBBE56E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5DE4A-8774-4EF9-990E-AC56364F61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90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33400" y="571500"/>
            <a:ext cx="84582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E6A3E-14E1-447B-A794-647C63AD518B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ADC15-30B5-4B59-B026-832DA94418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5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8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Relationship Id="rId22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4972050"/>
            <a:ext cx="9144000" cy="17145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</a:schemeClr>
              </a:gs>
              <a:gs pos="10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28" name="Picture 28" descr="PATTERN-LARGE-20perc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6502" r="7706" b="85167"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29" descr="PATTERN-LARGE-20percent.png"/>
          <p:cNvPicPr>
            <a:picLocks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4" t="9724" r="7706" b="86040"/>
          <a:stretch>
            <a:fillRect/>
          </a:stretch>
        </p:blipFill>
        <p:spPr bwMode="auto">
          <a:xfrm>
            <a:off x="0" y="4970463"/>
            <a:ext cx="914400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571500"/>
            <a:ext cx="8458200" cy="857250"/>
          </a:xfrm>
          <a:prstGeom prst="rect">
            <a:avLst/>
          </a:prstGeom>
        </p:spPr>
        <p:txBody>
          <a:bodyPr vert="horz" lIns="182880" tIns="91440" rIns="914400" bIns="45720" rtlCol="0" anchor="ctr" anchorCtr="0">
            <a:normAutofit/>
          </a:bodyPr>
          <a:lstStyle/>
          <a:p>
            <a:endParaRPr lang="en-US" dirty="0"/>
          </a:p>
        </p:txBody>
      </p:sp>
      <p:pic>
        <p:nvPicPr>
          <p:cNvPr id="1031" name="Picture 14" descr="logo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47625"/>
            <a:ext cx="1181100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2" name="Group 7"/>
          <p:cNvGrpSpPr>
            <a:grpSpLocks/>
          </p:cNvGrpSpPr>
          <p:nvPr/>
        </p:nvGrpSpPr>
        <p:grpSpPr bwMode="auto">
          <a:xfrm>
            <a:off x="8763000" y="4887913"/>
            <a:ext cx="269875" cy="198437"/>
            <a:chOff x="8763000" y="4887684"/>
            <a:chExt cx="269909" cy="198667"/>
          </a:xfrm>
        </p:grpSpPr>
        <p:pic>
          <p:nvPicPr>
            <p:cNvPr id="1042" name="Picture 10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4501" y="4914996"/>
              <a:ext cx="97102" cy="97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3" name="Picture 11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7620" y="4891250"/>
              <a:ext cx="191534" cy="1915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" name="Picture 21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3000" y="4914996"/>
              <a:ext cx="100105" cy="99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5" name="Picture 22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33865" y="4887684"/>
              <a:ext cx="199044" cy="198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533400" y="1428750"/>
            <a:ext cx="8458200" cy="3371850"/>
          </a:xfrm>
          <a:prstGeom prst="rect">
            <a:avLst/>
          </a:prstGeom>
        </p:spPr>
        <p:txBody>
          <a:bodyPr vert="horz" lIns="22860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5334000" y="4972050"/>
            <a:ext cx="838200" cy="171450"/>
          </a:xfrm>
          <a:prstGeom prst="rect">
            <a:avLst/>
          </a:prstGeom>
        </p:spPr>
        <p:txBody>
          <a:bodyPr vert="horz" wrap="square" lIns="91440" tIns="36576" rIns="9144" bIns="45720" numCol="1" anchor="ctr" anchorCtr="0" compatLnSpc="1">
            <a:prstTxWarp prst="textNoShape">
              <a:avLst/>
            </a:prstTxWarp>
          </a:bodyPr>
          <a:lstStyle>
            <a:lvl1pPr algn="r">
              <a:defRPr sz="500" smtClean="0">
                <a:solidFill>
                  <a:srgbClr val="D9D9D9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20D133F9-E49C-4588-B113-9EAD3A2AA206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6172200" y="4972050"/>
            <a:ext cx="2514600" cy="171450"/>
          </a:xfrm>
          <a:prstGeom prst="rect">
            <a:avLst/>
          </a:prstGeom>
        </p:spPr>
        <p:txBody>
          <a:bodyPr vert="horz" wrap="square" lIns="0" tIns="36576" rIns="0" bIns="45720" numCol="1" anchor="ctr" anchorCtr="0" compatLnSpc="1">
            <a:prstTxWarp prst="textNoShape">
              <a:avLst/>
            </a:prstTxWarp>
          </a:bodyPr>
          <a:lstStyle>
            <a:lvl1pPr algn="r">
              <a:defRPr sz="500" smtClean="0">
                <a:solidFill>
                  <a:srgbClr val="D9D9D9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686800" y="4937125"/>
            <a:ext cx="457200" cy="206375"/>
          </a:xfrm>
          <a:prstGeom prst="rect">
            <a:avLst/>
          </a:prstGeom>
        </p:spPr>
        <p:txBody>
          <a:bodyPr vert="horz" wrap="square" lIns="36576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600" b="1" smtClean="0">
                <a:solidFill>
                  <a:schemeClr val="bg1"/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F9EBF195-7A65-45E7-A2AF-74003F34D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7" name="Picture 3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8"/>
          <a:stretch>
            <a:fillRect/>
          </a:stretch>
        </p:blipFill>
        <p:spPr bwMode="auto">
          <a:xfrm>
            <a:off x="0" y="230188"/>
            <a:ext cx="400050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34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8" y="230188"/>
            <a:ext cx="3381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35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82550"/>
            <a:ext cx="141287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0" name="Picture 36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8"/>
          <a:stretch>
            <a:fillRect/>
          </a:stretch>
        </p:blipFill>
        <p:spPr bwMode="auto">
          <a:xfrm>
            <a:off x="0" y="230188"/>
            <a:ext cx="400050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1" name="Picture 37"/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3429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/>
  <p:txStyles>
    <p:titleStyle>
      <a:lvl1pPr marL="3651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 spc="-50">
          <a:solidFill>
            <a:srgbClr val="4F81BD"/>
          </a:solidFill>
          <a:latin typeface="Century Gothic" pitchFamily="34" charset="0"/>
          <a:ea typeface="MS PGothic" pitchFamily="34" charset="-128"/>
          <a:cs typeface="+mj-cs"/>
        </a:defRPr>
      </a:lvl1pPr>
      <a:lvl2pPr marL="3651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2pPr>
      <a:lvl3pPr marL="3651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3pPr>
      <a:lvl4pPr marL="3651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4pPr>
      <a:lvl5pPr marL="3651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5pPr>
      <a:lvl6pPr marL="493713" indent="-36513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6pPr>
      <a:lvl7pPr marL="950913" indent="-36513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7pPr>
      <a:lvl8pPr marL="1408113" indent="-36513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8pPr>
      <a:lvl9pPr marL="1865313" indent="-36513" algn="l" rtl="0" fontAlgn="base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4F81BD"/>
          </a:solidFill>
          <a:latin typeface="Century Gothic" pitchFamily="34" charset="0"/>
          <a:ea typeface="MS PGothic" pitchFamily="34" charset="-128"/>
        </a:defRPr>
      </a:lvl9pPr>
    </p:titleStyle>
    <p:bodyStyle>
      <a:lvl1pPr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4F81BD"/>
        </a:buClr>
        <a:buFont typeface="Arial" charset="0"/>
        <a:tabLst>
          <a:tab pos="228600" algn="l"/>
          <a:tab pos="457200" algn="l"/>
          <a:tab pos="685800" algn="l"/>
          <a:tab pos="914400" algn="l"/>
          <a:tab pos="1143000" algn="l"/>
          <a:tab pos="1371600" algn="l"/>
          <a:tab pos="1600200" algn="l"/>
          <a:tab pos="1828800" algn="l"/>
        </a:tabLst>
        <a:defRPr spc="-50">
          <a:solidFill>
            <a:srgbClr val="404040"/>
          </a:solidFill>
          <a:latin typeface="Century Gothic" pitchFamily="34" charset="0"/>
          <a:ea typeface="MS PGothic" pitchFamily="34" charset="-128"/>
          <a:cs typeface="+mn-cs"/>
        </a:defRPr>
      </a:lvl1pPr>
      <a:lvl2pPr marL="2286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4F81BD"/>
        </a:buClr>
        <a:buFont typeface="Arial" charset="0"/>
        <a:buChar char="•"/>
        <a:tabLst>
          <a:tab pos="228600" algn="l"/>
          <a:tab pos="457200" algn="l"/>
          <a:tab pos="685800" algn="l"/>
          <a:tab pos="914400" algn="l"/>
          <a:tab pos="1143000" algn="l"/>
          <a:tab pos="1371600" algn="l"/>
          <a:tab pos="1600200" algn="l"/>
          <a:tab pos="1828800" algn="l"/>
        </a:tabLst>
        <a:defRPr spc="-50">
          <a:solidFill>
            <a:srgbClr val="404040"/>
          </a:solidFill>
          <a:latin typeface="Century Gothic" pitchFamily="34" charset="0"/>
          <a:ea typeface="MS PGothic" pitchFamily="34" charset="-128"/>
          <a:cs typeface="+mn-cs"/>
        </a:defRPr>
      </a:lvl2pPr>
      <a:lvl3pPr marL="4572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4F81BD"/>
        </a:buClr>
        <a:buFont typeface="Arial" charset="0"/>
        <a:buChar char="•"/>
        <a:tabLst>
          <a:tab pos="228600" algn="l"/>
          <a:tab pos="457200" algn="l"/>
          <a:tab pos="685800" algn="l"/>
          <a:tab pos="914400" algn="l"/>
          <a:tab pos="1143000" algn="l"/>
          <a:tab pos="1371600" algn="l"/>
          <a:tab pos="1600200" algn="l"/>
          <a:tab pos="1828800" algn="l"/>
        </a:tabLst>
        <a:defRPr sz="1600" spc="-50">
          <a:solidFill>
            <a:srgbClr val="404040"/>
          </a:solidFill>
          <a:latin typeface="Century Gothic" pitchFamily="34" charset="0"/>
          <a:ea typeface="MS PGothic" pitchFamily="34" charset="-128"/>
          <a:cs typeface="+mn-cs"/>
        </a:defRPr>
      </a:lvl3pPr>
      <a:lvl4pPr marL="6858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4F81BD"/>
        </a:buClr>
        <a:buFont typeface="Arial" charset="0"/>
        <a:buChar char="•"/>
        <a:tabLst>
          <a:tab pos="228600" algn="l"/>
          <a:tab pos="457200" algn="l"/>
          <a:tab pos="685800" algn="l"/>
          <a:tab pos="914400" algn="l"/>
          <a:tab pos="1143000" algn="l"/>
          <a:tab pos="1371600" algn="l"/>
          <a:tab pos="1600200" algn="l"/>
          <a:tab pos="1828800" algn="l"/>
        </a:tabLst>
        <a:defRPr sz="1400" spc="-50">
          <a:solidFill>
            <a:srgbClr val="404040"/>
          </a:solidFill>
          <a:latin typeface="Century Gothic" pitchFamily="34" charset="0"/>
          <a:ea typeface="MS PGothic" pitchFamily="34" charset="-128"/>
          <a:cs typeface="+mn-cs"/>
        </a:defRPr>
      </a:lvl4pPr>
      <a:lvl5pPr marL="9144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rgbClr val="4F81BD"/>
        </a:buClr>
        <a:buFont typeface="Arial" charset="0"/>
        <a:buChar char="•"/>
        <a:tabLst>
          <a:tab pos="228600" algn="l"/>
          <a:tab pos="457200" algn="l"/>
          <a:tab pos="685800" algn="l"/>
          <a:tab pos="914400" algn="l"/>
          <a:tab pos="1143000" algn="l"/>
          <a:tab pos="1371600" algn="l"/>
          <a:tab pos="1600200" algn="l"/>
          <a:tab pos="1828800" algn="l"/>
        </a:tabLst>
        <a:defRPr sz="1200" spc="-50">
          <a:solidFill>
            <a:srgbClr val="404040"/>
          </a:solidFill>
          <a:latin typeface="Century Gothic" pitchFamily="34" charset="0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ttssh2.sourceforge.jp/index.html.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mbed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.mbed.org/platforms/MTS-Dragonfly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bed.org/teams/st/wiki/ST-Link-Driv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bed.org/teams/ST/wiki/Nucleo-Firmwar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st.com/web/en/catalog/tools/PF26021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mbed.org/users/BlueShadow/code/YYY_DragonflyHelloWorl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://developer.mbed.org/teams/Multi-Hackers/code/MTSAS_Cellular_SMS_Example/" TargetMode="External"/><Relationship Id="rId4" Type="http://schemas.openxmlformats.org/officeDocument/2006/relationships/hyperlink" Target="https://developer.mbed.org/users/BlueShadow/code/YYY_Dragonfly_ST_MEM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bed.org/teams/Multi-Hackers/code/Dragonfly_Terminal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eveloper.mbed.org/teams/MultiTech/code/dragonfly-flash-fs-example/" TargetMode="External"/><Relationship Id="rId5" Type="http://schemas.openxmlformats.org/officeDocument/2006/relationships/hyperlink" Target="http://developer.mbed.org/users/BlueShadow/code/YYY_Dragonfly_Moisture/" TargetMode="External"/><Relationship Id="rId4" Type="http://schemas.openxmlformats.org/officeDocument/2006/relationships/hyperlink" Target="https://developer.mbed.org/teams/Multi-Hackers/code/Dragonfly_Passthrough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bed.org/betamode/?pre=newboard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mbed.org/teams/AerCloud/code/Aeris_Multitech_Moisture_Alcohol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5" Type="http://schemas.openxmlformats.org/officeDocument/2006/relationships/hyperlink" Target="mailto:aercloud.trainee@aeris.net" TargetMode="External"/><Relationship Id="rId4" Type="http://schemas.openxmlformats.org/officeDocument/2006/relationships/hyperlink" Target="https://aerport.aeris.net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Overview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for MultiTech SocketModem</a:t>
            </a:r>
            <a:br>
              <a:rPr lang="en-US" dirty="0" smtClean="0"/>
            </a:br>
            <a:r>
              <a:rPr lang="en-US" dirty="0" smtClean="0"/>
              <a:t>ST processor/ Conductivity Sensor/ Sim/</a:t>
            </a:r>
            <a:r>
              <a:rPr lang="en-US" dirty="0" err="1" smtClean="0"/>
              <a:t>Aerport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Labs</a:t>
            </a:r>
            <a:endParaRPr lang="en-US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Lab1: Verify we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can talk on the cell network.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Lab2: Read sensor data from I2C sensor.</a:t>
            </a:r>
            <a:endParaRPr lang="en-US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Lab3: Read A/D data.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Lab4: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Send data via HTTP to </a:t>
            </a:r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AerCloud</a:t>
            </a:r>
            <a:endParaRPr lang="en-US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Lab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5479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Homework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for MultiTech Dragonfly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411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Homework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Serial program</a:t>
            </a:r>
          </a:p>
          <a:p>
            <a:pPr lvl="1"/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mbed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account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Dragonfly driver from ST 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Software downloads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Lab Overview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5637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prefer Putty or another USB to serial solution please use it.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Install </a:t>
            </a:r>
            <a:r>
              <a:rPr lang="en-US" dirty="0" err="1" smtClean="0"/>
              <a:t>TeraTerm</a:t>
            </a:r>
            <a:r>
              <a:rPr lang="en-US" dirty="0" smtClean="0"/>
              <a:t> or similar Serial program.</a:t>
            </a:r>
          </a:p>
          <a:p>
            <a:r>
              <a:rPr lang="en-US" u="sng" dirty="0">
                <a:hlinkClick r:id="rId3"/>
              </a:rPr>
              <a:t>http://</a:t>
            </a:r>
            <a:r>
              <a:rPr lang="en-US" u="sng" dirty="0" smtClean="0">
                <a:hlinkClick r:id="rId3"/>
              </a:rPr>
              <a:t>ttssh2.sourceforge.jp/index.html.en</a:t>
            </a:r>
            <a:endParaRPr lang="en-US" u="sng" dirty="0" smtClean="0"/>
          </a:p>
          <a:p>
            <a:r>
              <a:rPr lang="en-US" u="sng" dirty="0" smtClean="0"/>
              <a:t>Click on the “download page” </a:t>
            </a:r>
          </a:p>
          <a:p>
            <a:r>
              <a:rPr lang="en-US" b="1" dirty="0" smtClean="0"/>
              <a:t>Run “teraterm-4.87.exe”</a:t>
            </a:r>
            <a:r>
              <a:rPr lang="en-US" dirty="0" smtClean="0"/>
              <a:t>  accept the defaults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Serial Port Install Software (</a:t>
            </a:r>
            <a:r>
              <a:rPr lang="en-US" dirty="0" err="1" smtClean="0"/>
              <a:t>prework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112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Setup </a:t>
            </a:r>
            <a:r>
              <a:rPr lang="en-US" dirty="0" err="1" smtClean="0"/>
              <a:t>mbed</a:t>
            </a:r>
            <a:r>
              <a:rPr lang="en-US" dirty="0" smtClean="0"/>
              <a:t> Account and Install </a:t>
            </a:r>
            <a:r>
              <a:rPr lang="en-US" dirty="0"/>
              <a:t>Driver (</a:t>
            </a:r>
            <a:r>
              <a:rPr lang="en-US" dirty="0" err="1"/>
              <a:t>prework</a:t>
            </a:r>
            <a:r>
              <a:rPr lang="en-US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76350"/>
            <a:ext cx="8458200" cy="3429000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Go to </a:t>
            </a:r>
            <a:r>
              <a:rPr lang="en-US" dirty="0">
                <a:hlinkClick r:id="rId3"/>
              </a:rPr>
              <a:t>developer.mbed.org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Sign-up </a:t>
            </a:r>
            <a:r>
              <a:rPr lang="en-US" dirty="0"/>
              <a:t>and/or </a:t>
            </a:r>
            <a:r>
              <a:rPr lang="en-US" b="1" dirty="0"/>
              <a:t>log-in</a:t>
            </a:r>
            <a:r>
              <a:rPr lang="en-US" dirty="0"/>
              <a:t>   (no instructions provided</a:t>
            </a:r>
            <a:r>
              <a:rPr lang="en-US" dirty="0" smtClean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In a new browser window. </a:t>
            </a:r>
            <a:r>
              <a:rPr lang="en-US" b="1" dirty="0" smtClean="0"/>
              <a:t>Go to</a:t>
            </a:r>
            <a:r>
              <a:rPr lang="en-US" dirty="0" smtClean="0"/>
              <a:t>  </a:t>
            </a:r>
            <a:r>
              <a:rPr lang="en-US" u="sng" dirty="0" smtClean="0">
                <a:hlinkClick r:id="rId4"/>
              </a:rPr>
              <a:t>https://developer.mbed.org/platforms/MTS-Dragonfly/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Click</a:t>
            </a:r>
            <a:r>
              <a:rPr lang="en-US" dirty="0" smtClean="0"/>
              <a:t> on the blue box “</a:t>
            </a:r>
            <a:r>
              <a:rPr lang="en-US" b="1" dirty="0" smtClean="0"/>
              <a:t>Add to your </a:t>
            </a:r>
            <a:r>
              <a:rPr lang="en-US" b="1" dirty="0" err="1" smtClean="0"/>
              <a:t>mbed</a:t>
            </a:r>
            <a:r>
              <a:rPr lang="en-US" b="1" dirty="0" smtClean="0"/>
              <a:t> Compiler</a:t>
            </a:r>
            <a:r>
              <a:rPr lang="en-US" dirty="0" smtClean="0"/>
              <a:t>” on the right side of the screen.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Go back to the original browser </a:t>
            </a:r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9791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Setup </a:t>
            </a:r>
            <a:r>
              <a:rPr lang="en-US" dirty="0" err="1" smtClean="0"/>
              <a:t>mbed</a:t>
            </a:r>
            <a:r>
              <a:rPr lang="en-US" dirty="0" smtClean="0"/>
              <a:t> Account (</a:t>
            </a:r>
            <a:r>
              <a:rPr lang="en-US" dirty="0" err="1"/>
              <a:t>prework</a:t>
            </a:r>
            <a:r>
              <a:rPr lang="en-US" dirty="0"/>
              <a:t>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76350"/>
            <a:ext cx="8458200" cy="3429000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smtClean="0"/>
              <a:t>In the original Browser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Select</a:t>
            </a:r>
            <a:r>
              <a:rPr lang="en-US" dirty="0"/>
              <a:t> “</a:t>
            </a:r>
            <a:r>
              <a:rPr lang="en-US" b="1" dirty="0"/>
              <a:t>Compiler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/>
              <a:t>Click </a:t>
            </a:r>
            <a:r>
              <a:rPr lang="en-US" dirty="0"/>
              <a:t>on</a:t>
            </a:r>
            <a:r>
              <a:rPr lang="en-US" b="1" dirty="0"/>
              <a:t> </a:t>
            </a:r>
            <a:r>
              <a:rPr lang="en-US" dirty="0"/>
              <a:t>“</a:t>
            </a:r>
            <a:r>
              <a:rPr lang="en-US" b="1" dirty="0"/>
              <a:t>No </a:t>
            </a:r>
            <a:r>
              <a:rPr lang="en-US" b="1" dirty="0" smtClean="0"/>
              <a:t>Selected</a:t>
            </a:r>
            <a:r>
              <a:rPr lang="en-US" dirty="0"/>
              <a:t>” near top right side. (Or</a:t>
            </a:r>
            <a:r>
              <a:rPr lang="en-US" b="1" dirty="0"/>
              <a:t> Click </a:t>
            </a:r>
            <a:r>
              <a:rPr lang="en-US" dirty="0"/>
              <a:t>on</a:t>
            </a:r>
            <a:r>
              <a:rPr lang="en-US" b="1" dirty="0"/>
              <a:t> </a:t>
            </a:r>
            <a:r>
              <a:rPr lang="en-US" dirty="0"/>
              <a:t>the</a:t>
            </a:r>
            <a:r>
              <a:rPr lang="en-US" b="1" dirty="0"/>
              <a:t> Platform you already have setup</a:t>
            </a:r>
            <a:r>
              <a:rPr lang="en-US" dirty="0"/>
              <a:t>.)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Click </a:t>
            </a:r>
            <a:r>
              <a:rPr lang="en-US" dirty="0" smtClean="0"/>
              <a:t>“</a:t>
            </a:r>
            <a:r>
              <a:rPr lang="en-US" b="1" dirty="0" smtClean="0"/>
              <a:t>MTS Dragonfly</a:t>
            </a:r>
            <a:r>
              <a:rPr lang="en-US" dirty="0" smtClean="0"/>
              <a:t>”</a:t>
            </a:r>
            <a:r>
              <a:rPr lang="en-US" b="1" dirty="0" smtClean="0"/>
              <a:t> </a:t>
            </a:r>
            <a:r>
              <a:rPr lang="en-US" dirty="0"/>
              <a:t>and</a:t>
            </a:r>
            <a:r>
              <a:rPr lang="en-US" b="1" dirty="0"/>
              <a:t> “Select Platform</a:t>
            </a:r>
            <a:r>
              <a:rPr lang="en-US" dirty="0"/>
              <a:t>”</a:t>
            </a:r>
            <a:r>
              <a:rPr lang="en-US" b="1" dirty="0"/>
              <a:t>. </a:t>
            </a:r>
            <a:br>
              <a:rPr lang="en-US" b="1" dirty="0"/>
            </a:b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3290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dirty="0" smtClean="0"/>
              <a:t>First install the ST-Link driver to the latest version.</a:t>
            </a:r>
            <a:br>
              <a:rPr lang="en-US" dirty="0" smtClean="0"/>
            </a:b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developer.mbed.org/teams/st/wiki/ST-Link-Driver</a:t>
            </a:r>
            <a:r>
              <a:rPr lang="en-US" dirty="0" smtClean="0"/>
              <a:t> should open up Called “ST Link Driver”.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 smtClean="0"/>
              <a:t>Download</a:t>
            </a:r>
            <a:r>
              <a:rPr lang="en-US" dirty="0" smtClean="0"/>
              <a:t> </a:t>
            </a:r>
            <a:r>
              <a:rPr lang="en-US" dirty="0"/>
              <a:t>“</a:t>
            </a:r>
            <a:r>
              <a:rPr lang="en-US" b="1" dirty="0"/>
              <a:t>Download ST-Link Driver</a:t>
            </a:r>
            <a:r>
              <a:rPr lang="en-US" dirty="0"/>
              <a:t>” </a:t>
            </a:r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Extract</a:t>
            </a:r>
            <a:r>
              <a:rPr lang="en-US" dirty="0"/>
              <a:t> the </a:t>
            </a:r>
            <a:r>
              <a:rPr lang="en-US" b="1" dirty="0"/>
              <a:t>zip</a:t>
            </a:r>
            <a:r>
              <a:rPr lang="en-US" dirty="0"/>
              <a:t> file to a known location.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Depending on your machine, </a:t>
            </a:r>
            <a:r>
              <a:rPr lang="en-US" b="1" dirty="0"/>
              <a:t>Run </a:t>
            </a:r>
            <a:r>
              <a:rPr lang="en-US" dirty="0"/>
              <a:t>either </a:t>
            </a:r>
            <a:r>
              <a:rPr lang="en-US" b="1" dirty="0"/>
              <a:t>dpinst_amd64.exe</a:t>
            </a:r>
            <a:r>
              <a:rPr lang="en-US" dirty="0"/>
              <a:t> </a:t>
            </a:r>
            <a:r>
              <a:rPr lang="en-US" dirty="0" smtClean="0"/>
              <a:t>(for 64 bit system) or </a:t>
            </a:r>
            <a:r>
              <a:rPr lang="en-US" b="1" dirty="0" smtClean="0"/>
              <a:t>dpinst_x86.exe</a:t>
            </a:r>
            <a:r>
              <a:rPr lang="en-US" dirty="0" smtClean="0"/>
              <a:t> (f</a:t>
            </a:r>
            <a:r>
              <a:rPr lang="en-US" sz="1600" dirty="0" smtClean="0"/>
              <a:t>or 32 bit). </a:t>
            </a:r>
            <a:br>
              <a:rPr lang="en-US" sz="1600" dirty="0" smtClean="0"/>
            </a:br>
            <a:r>
              <a:rPr lang="en-US" sz="1600" dirty="0" smtClean="0"/>
              <a:t> </a:t>
            </a:r>
            <a:r>
              <a:rPr lang="en-US" sz="1600" dirty="0"/>
              <a:t>(As a reference: Window Button, Control Panel, System</a:t>
            </a:r>
            <a:r>
              <a:rPr lang="en-US" sz="1600" dirty="0" smtClean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Plug</a:t>
            </a:r>
            <a:r>
              <a:rPr lang="en-US" sz="1600" dirty="0"/>
              <a:t> </a:t>
            </a:r>
            <a:r>
              <a:rPr lang="en-US" sz="1600" b="1" dirty="0"/>
              <a:t>board</a:t>
            </a:r>
            <a:r>
              <a:rPr lang="en-US" sz="1600" dirty="0"/>
              <a:t> into system.  The Drivers will need to install, please wait a minute or so.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Verify</a:t>
            </a:r>
            <a:r>
              <a:rPr lang="en-US" sz="1600" dirty="0"/>
              <a:t> the unit can be seen by the system on Control Panel, Device Manager, Ports (Com &amp; LPT</a:t>
            </a:r>
            <a:r>
              <a:rPr lang="en-US" sz="1600" dirty="0" smtClean="0"/>
              <a:t>)</a:t>
            </a:r>
            <a:endParaRPr lang="en-US" sz="16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Windows Driver </a:t>
            </a:r>
            <a:r>
              <a:rPr lang="en-US" dirty="0"/>
              <a:t>update (</a:t>
            </a:r>
            <a:r>
              <a:rPr lang="en-US" dirty="0" err="1"/>
              <a:t>prework</a:t>
            </a:r>
            <a:r>
              <a:rPr lang="en-US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4426778"/>
            <a:ext cx="3304762" cy="2785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1070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 smtClean="0"/>
              <a:t>The following procedure can be used to update the Dragonfly with new firmware.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Update </a:t>
            </a:r>
            <a:r>
              <a:rPr lang="en-US" sz="1600" dirty="0"/>
              <a:t>your </a:t>
            </a:r>
            <a:r>
              <a:rPr lang="en-US" sz="1600" dirty="0" smtClean="0"/>
              <a:t>Dragonfly board </a:t>
            </a:r>
            <a:r>
              <a:rPr lang="en-US" sz="1600" dirty="0"/>
              <a:t>to the latest firmware</a:t>
            </a:r>
            <a:br>
              <a:rPr lang="en-US" sz="1600" dirty="0"/>
            </a:br>
            <a:r>
              <a:rPr lang="en-US" sz="1600" dirty="0">
                <a:hlinkClick r:id="rId3"/>
              </a:rPr>
              <a:t>https://developer.mbed.org/teams/ST/wiki/Nucleo-Firmware</a:t>
            </a:r>
            <a:r>
              <a:rPr lang="en-US" sz="1600" dirty="0"/>
              <a:t>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Web </a:t>
            </a:r>
            <a:r>
              <a:rPr lang="en-US" sz="1600" dirty="0"/>
              <a:t>page “</a:t>
            </a:r>
            <a:r>
              <a:rPr lang="en-US" sz="1600" b="1" dirty="0"/>
              <a:t>Nucleo Firmware</a:t>
            </a:r>
            <a:r>
              <a:rPr lang="en-US" sz="1600" dirty="0"/>
              <a:t>”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 </a:t>
            </a:r>
            <a:r>
              <a:rPr lang="en-US" sz="1600" b="1" dirty="0" smtClean="0"/>
              <a:t>Click</a:t>
            </a:r>
            <a:r>
              <a:rPr lang="en-US" sz="1600" dirty="0" smtClean="0"/>
              <a:t> on “</a:t>
            </a:r>
            <a:r>
              <a:rPr lang="en-US" sz="1600" dirty="0">
                <a:hlinkClick r:id="rId4"/>
              </a:rPr>
              <a:t>Download the latest ST-LINK/V2-1 firmware </a:t>
            </a:r>
            <a:r>
              <a:rPr lang="en-US" sz="1600" dirty="0" smtClean="0">
                <a:hlinkClick r:id="rId4"/>
              </a:rPr>
              <a:t>upgrade</a:t>
            </a:r>
            <a:r>
              <a:rPr lang="en-US" sz="1600" dirty="0" smtClean="0"/>
              <a:t>”.</a:t>
            </a:r>
            <a:endParaRPr lang="en-US" sz="1600" dirty="0"/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 smtClean="0"/>
              <a:t>Download, Extract </a:t>
            </a:r>
            <a:r>
              <a:rPr lang="en-US" sz="1600" dirty="0" smtClean="0"/>
              <a:t>and</a:t>
            </a:r>
            <a:r>
              <a:rPr lang="en-US" sz="1600" b="1" dirty="0" smtClean="0"/>
              <a:t> Run </a:t>
            </a:r>
            <a:r>
              <a:rPr lang="en-US" sz="1600" dirty="0" smtClean="0"/>
              <a:t>“</a:t>
            </a:r>
            <a:r>
              <a:rPr lang="en-US" sz="1600" b="1" dirty="0" smtClean="0"/>
              <a:t>STSW-LINK007</a:t>
            </a:r>
            <a:r>
              <a:rPr lang="en-US" sz="1600" dirty="0" smtClean="0"/>
              <a:t>”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 Plug the power to Developer board then USB cable.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dirty="0" smtClean="0"/>
              <a:t>Wait for USB Enumeration to finish. </a:t>
            </a:r>
            <a:r>
              <a:rPr lang="en-US" sz="1600" b="1" dirty="0" smtClean="0"/>
              <a:t>Press “Refresh device list”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 </a:t>
            </a:r>
            <a:r>
              <a:rPr lang="en-US" sz="1600" b="1" dirty="0" smtClean="0"/>
              <a:t>Press “Open in update mode”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 If needed, </a:t>
            </a:r>
            <a:r>
              <a:rPr lang="en-US" sz="1600" b="1" dirty="0" smtClean="0"/>
              <a:t>Click “Upgraded”</a:t>
            </a:r>
            <a:endParaRPr lang="en-US" sz="1600" dirty="0" smtClean="0"/>
          </a:p>
          <a:p>
            <a:pPr marL="228600" indent="-228600">
              <a:buFont typeface="+mj-lt"/>
              <a:buAutoNum type="arabicPeriod"/>
            </a:pPr>
            <a:r>
              <a:rPr lang="en-US" sz="1600" dirty="0" smtClean="0"/>
              <a:t>After success </a:t>
            </a:r>
            <a:r>
              <a:rPr lang="en-US" sz="1600" b="1" dirty="0" smtClean="0"/>
              <a:t>Close</a:t>
            </a:r>
            <a:r>
              <a:rPr lang="en-US" sz="1600" dirty="0" smtClean="0"/>
              <a:t> the program.</a:t>
            </a:r>
          </a:p>
          <a:p>
            <a:pPr marL="0" indent="0">
              <a:buNone/>
            </a:pPr>
            <a:endParaRPr lang="en-US" sz="1200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Reference Only: Firmware Upgrade (MultiTech did this for you)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456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Programs to </a:t>
            </a:r>
            <a:r>
              <a:rPr lang="en-US" dirty="0"/>
              <a:t>download (</a:t>
            </a:r>
            <a:r>
              <a:rPr lang="en-US" dirty="0" err="1"/>
              <a:t>prework</a:t>
            </a:r>
            <a:r>
              <a:rPr lang="en-US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Click </a:t>
            </a:r>
            <a:r>
              <a:rPr lang="en-US" dirty="0" smtClean="0">
                <a:solidFill>
                  <a:schemeClr val="tx1"/>
                </a:solidFill>
              </a:rPr>
              <a:t>on the below links and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“Import this program” </a:t>
            </a:r>
            <a:r>
              <a:rPr lang="en-US" dirty="0" smtClean="0">
                <a:solidFill>
                  <a:schemeClr val="tx1"/>
                </a:solidFill>
              </a:rPr>
              <a:t>(Blue Box Right side of the screen), then </a:t>
            </a:r>
            <a:r>
              <a:rPr lang="en-US" b="1" dirty="0" smtClean="0">
                <a:solidFill>
                  <a:schemeClr val="tx1"/>
                </a:solidFill>
              </a:rPr>
              <a:t>Click “Install”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Hello World Program:</a:t>
            </a:r>
            <a:r>
              <a:rPr lang="en-US" dirty="0" smtClean="0">
                <a:hlinkClick r:id="rId3"/>
              </a:rPr>
              <a:t> </a:t>
            </a:r>
            <a:r>
              <a:rPr lang="en-US" sz="1600" dirty="0" smtClean="0">
                <a:hlinkClick r:id="rId3"/>
              </a:rPr>
              <a:t>http</a:t>
            </a:r>
            <a:r>
              <a:rPr lang="en-US" sz="1600" dirty="0">
                <a:hlinkClick r:id="rId3"/>
              </a:rPr>
              <a:t>://developer.mbed.org/users/BlueShadow/code/YYY_DragonflyHelloWorld</a:t>
            </a:r>
            <a:r>
              <a:rPr lang="en-US" sz="1600" dirty="0" smtClean="0">
                <a:hlinkClick r:id="rId3"/>
              </a:rPr>
              <a:t>/</a:t>
            </a:r>
            <a:endParaRPr lang="en-US" sz="1600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ST </a:t>
            </a:r>
            <a:r>
              <a:rPr lang="en-US" dirty="0" err="1" smtClean="0">
                <a:solidFill>
                  <a:schemeClr val="tx1"/>
                </a:solidFill>
              </a:rPr>
              <a:t>Nucleo_Sensors_Demo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600" dirty="0">
                <a:hlinkClick r:id="rId4"/>
              </a:rPr>
              <a:t>https://developer.mbed.org/users/BlueShadow/code/YYY_Dragonfly_ST_MEMS</a:t>
            </a:r>
            <a:r>
              <a:rPr lang="en-US" sz="1600" dirty="0" smtClean="0">
                <a:hlinkClick r:id="rId4"/>
              </a:rPr>
              <a:t>/</a:t>
            </a:r>
            <a:endParaRPr lang="en-US" sz="1600" dirty="0" smtClean="0"/>
          </a:p>
          <a:p>
            <a:endParaRPr lang="en-US" dirty="0" smtClean="0"/>
          </a:p>
          <a:p>
            <a:r>
              <a:rPr lang="en-US" dirty="0">
                <a:solidFill>
                  <a:schemeClr val="tx1"/>
                </a:solidFill>
              </a:rPr>
              <a:t>Reference: SMS Example Program:</a:t>
            </a:r>
          </a:p>
          <a:p>
            <a:r>
              <a:rPr lang="en-US" sz="1600" u="sng" dirty="0">
                <a:hlinkClick r:id="rId5"/>
              </a:rPr>
              <a:t>http://developer.mbed.org/teams/Multi-Hackers/code/MTSAS_Cellular_SMS_Example/</a:t>
            </a:r>
            <a:endParaRPr lang="en-US" u="sng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125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Programs to </a:t>
            </a:r>
            <a:r>
              <a:rPr lang="en-US" dirty="0"/>
              <a:t>download (</a:t>
            </a:r>
            <a:r>
              <a:rPr lang="en-US" dirty="0" err="1"/>
              <a:t>prework</a:t>
            </a:r>
            <a:r>
              <a:rPr lang="en-US" dirty="0"/>
              <a:t>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Click </a:t>
            </a:r>
            <a:r>
              <a:rPr lang="en-US" dirty="0" smtClean="0">
                <a:solidFill>
                  <a:schemeClr val="tx1"/>
                </a:solidFill>
              </a:rPr>
              <a:t>on the below links and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“Import this program” </a:t>
            </a:r>
            <a:r>
              <a:rPr lang="en-US" dirty="0" smtClean="0">
                <a:solidFill>
                  <a:schemeClr val="tx1"/>
                </a:solidFill>
              </a:rPr>
              <a:t>(Blue Box Right side of the screen), then </a:t>
            </a:r>
            <a:r>
              <a:rPr lang="en-US" b="1" dirty="0" smtClean="0">
                <a:solidFill>
                  <a:schemeClr val="tx1"/>
                </a:solidFill>
              </a:rPr>
              <a:t>Click “Install”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Terminal Program:</a:t>
            </a:r>
          </a:p>
          <a:p>
            <a:r>
              <a:rPr lang="en-US" sz="1600" dirty="0">
                <a:hlinkClick r:id="rId3"/>
              </a:rPr>
              <a:t>https://developer.mbed.org/teams/Multi-Hackers/code/Dragonfly_Terminal</a:t>
            </a:r>
            <a:r>
              <a:rPr lang="en-US" sz="1600" dirty="0" smtClean="0">
                <a:hlinkClick r:id="rId3"/>
              </a:rPr>
              <a:t>/</a:t>
            </a:r>
            <a:endParaRPr lang="en-US" sz="1600" dirty="0" smtClean="0"/>
          </a:p>
          <a:p>
            <a:r>
              <a:rPr lang="en-US" dirty="0" err="1" smtClean="0">
                <a:solidFill>
                  <a:schemeClr val="tx1"/>
                </a:solidFill>
              </a:rPr>
              <a:t>Passthru</a:t>
            </a:r>
            <a:r>
              <a:rPr lang="en-US" dirty="0" smtClean="0">
                <a:solidFill>
                  <a:schemeClr val="tx1"/>
                </a:solidFill>
              </a:rPr>
              <a:t> Example Program:</a:t>
            </a:r>
          </a:p>
          <a:p>
            <a:r>
              <a:rPr lang="en-US" sz="1700" u="sng" dirty="0">
                <a:hlinkClick r:id="rId4"/>
              </a:rPr>
              <a:t>https://developer.mbed.org/teams/Multi-Hackers/code/Dragonfly_Passthrough</a:t>
            </a:r>
            <a:r>
              <a:rPr lang="en-US" sz="1700" u="sng" dirty="0" smtClean="0">
                <a:hlinkClick r:id="rId4"/>
              </a:rPr>
              <a:t>/</a:t>
            </a:r>
            <a:endParaRPr lang="en-US" sz="1700" u="sng" dirty="0" smtClean="0"/>
          </a:p>
          <a:p>
            <a:r>
              <a:rPr lang="en-US" dirty="0" smtClean="0">
                <a:solidFill>
                  <a:schemeClr val="tx1"/>
                </a:solidFill>
              </a:rPr>
              <a:t>Moisture Meter Program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r>
              <a:rPr lang="en-US" sz="1600" u="sng" kern="12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/>
              </a:rPr>
              <a:t>http://developer.mbed.org/users/BlueShadow/code/YYY_Dragonfly_Moisture</a:t>
            </a:r>
            <a:r>
              <a:rPr lang="en-US" sz="1600" u="sng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5"/>
              </a:rPr>
              <a:t>/</a:t>
            </a:r>
            <a:endParaRPr lang="en-US" sz="1600" u="sng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Flash File for SPI device on Dragonfly: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1600" dirty="0">
                <a:hlinkClick r:id="rId6"/>
              </a:rPr>
              <a:t>https://developer.mbed.org/teams/MultiTech/code/dragonfly-flash-fs-example</a:t>
            </a:r>
            <a:r>
              <a:rPr lang="en-US" sz="1600" dirty="0" smtClean="0">
                <a:hlinkClick r:id="rId6"/>
              </a:rPr>
              <a:t>/</a:t>
            </a:r>
            <a:endParaRPr lang="en-US" sz="1600" dirty="0" smtClean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rot="19787415">
            <a:off x="2909865" y="2602773"/>
            <a:ext cx="30239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HIDDEN SLIDES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2081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for MultiTech SocketModem</a:t>
            </a:r>
            <a:br>
              <a:rPr lang="en-US" dirty="0" smtClean="0"/>
            </a:br>
            <a:r>
              <a:rPr lang="en-US" dirty="0" smtClean="0"/>
              <a:t>Dragonfly/ Sensor/ </a:t>
            </a:r>
            <a:r>
              <a:rPr lang="en-US" dirty="0" err="1" smtClean="0"/>
              <a:t>Aeris</a:t>
            </a:r>
            <a:r>
              <a:rPr lang="en-US" dirty="0" smtClean="0"/>
              <a:t> Sim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Lab 1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Hello World (aka </a:t>
            </a:r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Blinky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Send 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SMS Message via AT commands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Ping Google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Use </a:t>
            </a:r>
            <a:r>
              <a:rPr lang="en-US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mBed</a:t>
            </a:r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to send an SMS</a:t>
            </a:r>
          </a:p>
          <a:p>
            <a:pPr lvl="1"/>
            <a:r>
              <a:rPr 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Conductivity Sensor application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Lab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4193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0" r="12469"/>
          <a:stretch/>
        </p:blipFill>
        <p:spPr>
          <a:xfrm>
            <a:off x="2209800" y="361950"/>
            <a:ext cx="4871720" cy="45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642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 txBox="1">
            <a:spLocks/>
          </p:cNvSpPr>
          <p:nvPr/>
        </p:nvSpPr>
        <p:spPr>
          <a:xfrm>
            <a:off x="457200" y="1295400"/>
            <a:ext cx="8229600" cy="33337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SIM Card</a:t>
            </a:r>
            <a:r>
              <a:rPr lang="en-US" sz="1400" dirty="0" smtClean="0"/>
              <a:t> should be in Dragonfly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UFL Connectors</a:t>
            </a:r>
            <a:r>
              <a:rPr lang="en-US" sz="1400" dirty="0" smtClean="0"/>
              <a:t> should be attached (or shorting out power)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Cell Antenna</a:t>
            </a:r>
            <a:r>
              <a:rPr lang="en-US" sz="1400" dirty="0" smtClean="0"/>
              <a:t> are attached on the right and left cables.  GPS is in the center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Apply DC Power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USB Cable</a:t>
            </a:r>
            <a:endParaRPr lang="en-US" sz="1400" dirty="0" smtClean="0"/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Wait.…</a:t>
            </a:r>
            <a:r>
              <a:rPr lang="en-US" sz="1400" dirty="0" smtClean="0"/>
              <a:t> Device drivers may take a period of time to load.</a:t>
            </a:r>
            <a:br>
              <a:rPr lang="en-US" sz="1400" dirty="0" smtClean="0"/>
            </a:br>
            <a:r>
              <a:rPr lang="en-US" sz="1400" dirty="0" smtClean="0"/>
              <a:t> </a:t>
            </a:r>
            <a:r>
              <a:rPr lang="en-US" sz="1400" dirty="0" smtClean="0"/>
              <a:t> </a:t>
            </a:r>
            <a:r>
              <a:rPr lang="en-US" sz="1400" dirty="0"/>
              <a:t>A </a:t>
            </a:r>
            <a:r>
              <a:rPr lang="en-US" sz="1400" dirty="0"/>
              <a:t>MULTITECH </a:t>
            </a:r>
            <a:r>
              <a:rPr lang="en-US" sz="1400" dirty="0" smtClean="0"/>
              <a:t>Drive </a:t>
            </a:r>
            <a:r>
              <a:rPr lang="en-US" sz="1400" dirty="0"/>
              <a:t>“D:” </a:t>
            </a:r>
            <a:r>
              <a:rPr lang="en-US" sz="1400" dirty="0" smtClean="0"/>
              <a:t>should appear. 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Login </a:t>
            </a:r>
            <a:r>
              <a:rPr lang="en-US" sz="1400" dirty="0" smtClean="0"/>
              <a:t>to</a:t>
            </a:r>
            <a:r>
              <a:rPr lang="en-US" sz="1400" b="1" dirty="0" smtClean="0"/>
              <a:t> mbed.org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Open </a:t>
            </a:r>
            <a:r>
              <a:rPr lang="en-US" sz="1400" b="1" dirty="0" smtClean="0">
                <a:hlinkClick r:id="rId3"/>
              </a:rPr>
              <a:t>https</a:t>
            </a:r>
            <a:r>
              <a:rPr lang="en-US" sz="1400" b="1" dirty="0">
                <a:hlinkClick r:id="rId3"/>
              </a:rPr>
              <a:t>://developer.mbed.org/betamode/?</a:t>
            </a:r>
            <a:r>
              <a:rPr lang="en-US" sz="1400" b="1" dirty="0" smtClean="0">
                <a:hlinkClick r:id="rId3"/>
              </a:rPr>
              <a:t>pre=newboards</a:t>
            </a:r>
            <a:endParaRPr lang="en-US" sz="1400" b="1" dirty="0" smtClean="0"/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Click</a:t>
            </a:r>
            <a:r>
              <a:rPr lang="en-US" sz="1400" dirty="0" smtClean="0"/>
              <a:t> on blue box </a:t>
            </a:r>
            <a:r>
              <a:rPr lang="en-US" sz="1400" b="1" dirty="0" smtClean="0"/>
              <a:t>“Beta Mode”</a:t>
            </a:r>
            <a:r>
              <a:rPr lang="en-US" sz="1400" dirty="0" smtClean="0"/>
              <a:t> end of page</a:t>
            </a:r>
            <a:endParaRPr lang="en-US" sz="1400" dirty="0"/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dirty="0" smtClean="0"/>
              <a:t> </a:t>
            </a:r>
            <a:r>
              <a:rPr lang="en-US" sz="1400" b="1" dirty="0" smtClean="0"/>
              <a:t>Go</a:t>
            </a:r>
            <a:r>
              <a:rPr lang="en-US" sz="1400" dirty="0" smtClean="0"/>
              <a:t> back to </a:t>
            </a:r>
            <a:r>
              <a:rPr lang="en-US" sz="1400" b="1" dirty="0" smtClean="0"/>
              <a:t>mbed.org</a:t>
            </a:r>
            <a:r>
              <a:rPr lang="en-US" sz="1400" dirty="0" smtClean="0"/>
              <a:t>, </a:t>
            </a:r>
            <a:r>
              <a:rPr lang="en-US" sz="1400" b="1" dirty="0"/>
              <a:t>Click </a:t>
            </a:r>
            <a:r>
              <a:rPr lang="en-US" sz="1400" dirty="0"/>
              <a:t>on </a:t>
            </a:r>
            <a:r>
              <a:rPr lang="en-US" sz="1400" b="1" dirty="0" smtClean="0"/>
              <a:t>Developer, </a:t>
            </a:r>
            <a:r>
              <a:rPr lang="en-US" sz="1400" b="1" dirty="0"/>
              <a:t>Click </a:t>
            </a:r>
            <a:r>
              <a:rPr lang="en-US" sz="1400" dirty="0"/>
              <a:t>on </a:t>
            </a:r>
            <a:r>
              <a:rPr lang="en-US" sz="1400" b="1" dirty="0"/>
              <a:t>Compiler</a:t>
            </a:r>
            <a:r>
              <a:rPr lang="en-US" sz="1400" dirty="0" smtClean="0"/>
              <a:t>.</a:t>
            </a:r>
            <a:br>
              <a:rPr lang="en-US" sz="1400" dirty="0" smtClean="0"/>
            </a:br>
            <a:r>
              <a:rPr lang="en-US" sz="1400" dirty="0" smtClean="0"/>
              <a:t>  You should see Beta Mode in top right corner</a:t>
            </a:r>
            <a:endParaRPr lang="en-US" sz="1400" dirty="0"/>
          </a:p>
          <a:p>
            <a:pPr>
              <a:spcBef>
                <a:spcPts val="600"/>
              </a:spcBef>
              <a:buFont typeface="+mj-lt"/>
              <a:buAutoNum type="arabicPeriod"/>
            </a:pPr>
            <a:endParaRPr lang="en-US" sz="1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Cables and Power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5496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 txBox="1">
            <a:spLocks/>
          </p:cNvSpPr>
          <p:nvPr/>
        </p:nvSpPr>
        <p:spPr>
          <a:xfrm>
            <a:off x="457200" y="2190750"/>
            <a:ext cx="8229600" cy="274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Double Click </a:t>
            </a:r>
            <a:r>
              <a:rPr lang="en-US" sz="1400" b="1" dirty="0" err="1" smtClean="0"/>
              <a:t>DragonflyHelloWorld</a:t>
            </a:r>
            <a:endParaRPr lang="en-US" sz="1400" b="1" dirty="0" smtClean="0"/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Double Click </a:t>
            </a:r>
            <a:r>
              <a:rPr lang="en-US" sz="1400" dirty="0" smtClean="0"/>
              <a:t>on</a:t>
            </a:r>
            <a:r>
              <a:rPr lang="en-US" sz="1400" b="1" dirty="0" smtClean="0"/>
              <a:t> main.cpp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Modify </a:t>
            </a:r>
            <a:r>
              <a:rPr lang="en-US" sz="1400" dirty="0" smtClean="0"/>
              <a:t>the code as you see fit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Click </a:t>
            </a:r>
            <a:r>
              <a:rPr lang="en-US" sz="1400" dirty="0" smtClean="0"/>
              <a:t>on </a:t>
            </a:r>
            <a:r>
              <a:rPr lang="en-US" sz="1400" b="1" dirty="0" smtClean="0"/>
              <a:t>Compile, </a:t>
            </a:r>
            <a:r>
              <a:rPr lang="en-US" sz="1400" b="1" dirty="0" smtClean="0"/>
              <a:t>Save </a:t>
            </a:r>
            <a:r>
              <a:rPr lang="en-US" sz="1400" dirty="0" smtClean="0"/>
              <a:t>the file to your favorite location, </a:t>
            </a:r>
            <a:r>
              <a:rPr lang="en-US" sz="1400" b="1" dirty="0" smtClean="0"/>
              <a:t>Open</a:t>
            </a:r>
            <a:r>
              <a:rPr lang="en-US" sz="1400" dirty="0" smtClean="0"/>
              <a:t> </a:t>
            </a:r>
            <a:r>
              <a:rPr lang="en-US" sz="1400" dirty="0" smtClean="0"/>
              <a:t>the download folder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Right Click </a:t>
            </a:r>
            <a:r>
              <a:rPr lang="en-US" sz="1400" dirty="0" smtClean="0"/>
              <a:t>and </a:t>
            </a:r>
            <a:r>
              <a:rPr lang="en-US" sz="1400" b="1" dirty="0" smtClean="0"/>
              <a:t>Send</a:t>
            </a:r>
            <a:r>
              <a:rPr lang="en-US" sz="1400" dirty="0" smtClean="0"/>
              <a:t> the new file to the </a:t>
            </a:r>
            <a:r>
              <a:rPr lang="en-US" sz="1400" b="1" dirty="0"/>
              <a:t>MULTITECH </a:t>
            </a:r>
            <a:r>
              <a:rPr lang="en-US" sz="1400" b="1" dirty="0" smtClean="0"/>
              <a:t>Drive:</a:t>
            </a:r>
            <a:r>
              <a:rPr lang="en-US" sz="1400" dirty="0" smtClean="0"/>
              <a:t>. </a:t>
            </a:r>
            <a:r>
              <a:rPr lang="en-US" sz="1400" dirty="0" smtClean="0"/>
              <a:t>The </a:t>
            </a:r>
            <a:r>
              <a:rPr lang="en-US" sz="1400" dirty="0" smtClean="0"/>
              <a:t>RG </a:t>
            </a:r>
            <a:r>
              <a:rPr lang="en-US" sz="1400" dirty="0" smtClean="0"/>
              <a:t>LED should be on for a few seconds during the download process.  The small </a:t>
            </a:r>
            <a:r>
              <a:rPr lang="en-US" sz="1400" dirty="0" smtClean="0"/>
              <a:t>Blue LEDs </a:t>
            </a:r>
            <a:r>
              <a:rPr lang="en-US" sz="1400" dirty="0" smtClean="0"/>
              <a:t>should be blinking.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en-US" sz="1400" b="1" dirty="0" smtClean="0"/>
              <a:t>Start </a:t>
            </a:r>
            <a:r>
              <a:rPr lang="en-US" sz="1400" b="1" dirty="0" err="1" smtClean="0"/>
              <a:t>Teraterm</a:t>
            </a:r>
            <a:r>
              <a:rPr lang="en-US" sz="1400" dirty="0" smtClean="0"/>
              <a:t>, </a:t>
            </a:r>
            <a:r>
              <a:rPr lang="en-US" sz="1400" b="1" dirty="0" smtClean="0"/>
              <a:t>Click</a:t>
            </a:r>
            <a:r>
              <a:rPr lang="en-US" sz="1400" dirty="0" smtClean="0"/>
              <a:t> on </a:t>
            </a:r>
            <a:r>
              <a:rPr lang="en-US" sz="1400" b="1" dirty="0" smtClean="0"/>
              <a:t>Serial</a:t>
            </a:r>
            <a:r>
              <a:rPr lang="en-US" sz="1400" dirty="0" smtClean="0"/>
              <a:t>, </a:t>
            </a:r>
            <a:r>
              <a:rPr lang="en-US" sz="1400" b="1" dirty="0" smtClean="0"/>
              <a:t>Select</a:t>
            </a:r>
            <a:r>
              <a:rPr lang="en-US" sz="1400" dirty="0" smtClean="0"/>
              <a:t> the right </a:t>
            </a:r>
            <a:r>
              <a:rPr lang="en-US" sz="1400" b="1" dirty="0" smtClean="0"/>
              <a:t>PORT</a:t>
            </a:r>
            <a:r>
              <a:rPr lang="en-US" sz="1400" dirty="0" smtClean="0"/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 smtClean="0"/>
              <a:t>Settings: Setup, Serial, values are: Baud rate: 9600, Data: 8, Parity: N, Stop: 1,Flow: none.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400" dirty="0" smtClean="0"/>
              <a:t>You should see Hello World! Every 5 seconds. You can adjust variables in Main.cpp.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1657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Yes it’s silly, but lets get the LED to blink and test </a:t>
            </a:r>
            <a:r>
              <a:rPr lang="en-US" sz="2000" dirty="0" err="1" smtClean="0"/>
              <a:t>TeraTerm</a:t>
            </a:r>
            <a:r>
              <a:rPr lang="en-US" sz="2000" dirty="0" smtClean="0"/>
              <a:t>. </a:t>
            </a:r>
          </a:p>
          <a:p>
            <a:r>
              <a:rPr lang="en-US" sz="1200" dirty="0" smtClean="0"/>
              <a:t>In </a:t>
            </a:r>
            <a:r>
              <a:rPr lang="en-US" sz="1200" dirty="0" smtClean="0"/>
              <a:t>mbed.org session.  (home, compiler, verify the right board is there).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Hello </a:t>
            </a:r>
            <a:r>
              <a:rPr lang="en-US" dirty="0"/>
              <a:t>World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83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Commands are still valid.</a:t>
            </a:r>
          </a:p>
          <a:p>
            <a:r>
              <a:rPr lang="en-US" b="1" dirty="0" smtClean="0"/>
              <a:t>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Set </a:t>
            </a:r>
            <a:r>
              <a:rPr lang="en-US" dirty="0" smtClean="0"/>
              <a:t>up the APN.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Cell signal strength.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Verify device is on the network (Ping Google)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Send a text to your phone.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Receive a text from your phone.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LAB: Get the Modem on the Network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7588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Double </a:t>
            </a:r>
            <a:r>
              <a:rPr lang="en-US" b="1" dirty="0"/>
              <a:t>Click </a:t>
            </a:r>
            <a:r>
              <a:rPr lang="en-US" b="1" dirty="0" err="1" smtClean="0"/>
              <a:t>Dragonfly_Terminal</a:t>
            </a: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Double </a:t>
            </a:r>
            <a:r>
              <a:rPr lang="en-US" b="1" dirty="0"/>
              <a:t>Click </a:t>
            </a:r>
            <a:r>
              <a:rPr lang="en-US" dirty="0"/>
              <a:t>on</a:t>
            </a:r>
            <a:r>
              <a:rPr lang="en-US" b="1" dirty="0"/>
              <a:t> main.cpp</a:t>
            </a:r>
          </a:p>
          <a:p>
            <a:pPr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 smtClean="0"/>
              <a:t>Modify </a:t>
            </a:r>
            <a:r>
              <a:rPr lang="en-US" dirty="0"/>
              <a:t>the </a:t>
            </a:r>
            <a:r>
              <a:rPr lang="en-US" dirty="0" smtClean="0"/>
              <a:t>code?: Serial port connection – do nothing. </a:t>
            </a:r>
            <a:br>
              <a:rPr lang="en-US" dirty="0" smtClean="0"/>
            </a:br>
            <a:r>
              <a:rPr lang="en-US" dirty="0" smtClean="0"/>
              <a:t>      USB: </a:t>
            </a:r>
            <a:r>
              <a:rPr lang="en-US" b="1" dirty="0" smtClean="0"/>
              <a:t>Change</a:t>
            </a:r>
            <a:r>
              <a:rPr lang="en-US" dirty="0" smtClean="0"/>
              <a:t> line </a:t>
            </a:r>
            <a:r>
              <a:rPr lang="en-US" dirty="0"/>
              <a:t>5 to  Serial </a:t>
            </a:r>
            <a:r>
              <a:rPr lang="en-US" dirty="0" err="1" smtClean="0"/>
              <a:t>ext</a:t>
            </a:r>
            <a:r>
              <a:rPr lang="en-US" dirty="0" smtClean="0"/>
              <a:t>(</a:t>
            </a:r>
            <a:r>
              <a:rPr lang="en-US" b="1" dirty="0" smtClean="0"/>
              <a:t>USBTX, USBRX</a:t>
            </a:r>
            <a:r>
              <a:rPr lang="en-US" dirty="0" smtClean="0"/>
              <a:t>);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Click </a:t>
            </a:r>
            <a:r>
              <a:rPr lang="en-US" dirty="0"/>
              <a:t>on </a:t>
            </a:r>
            <a:r>
              <a:rPr lang="en-US" b="1" dirty="0"/>
              <a:t>Compile, Save </a:t>
            </a:r>
            <a:r>
              <a:rPr lang="en-US" dirty="0"/>
              <a:t>the file to your favorite location, </a:t>
            </a:r>
            <a:r>
              <a:rPr lang="en-US" b="1" dirty="0"/>
              <a:t>Open</a:t>
            </a:r>
            <a:r>
              <a:rPr lang="en-US" dirty="0"/>
              <a:t> the download </a:t>
            </a:r>
            <a:r>
              <a:rPr lang="en-US" dirty="0" smtClean="0"/>
              <a:t>folder, </a:t>
            </a:r>
            <a:r>
              <a:rPr lang="en-US" b="1" dirty="0" smtClean="0"/>
              <a:t>Right </a:t>
            </a:r>
            <a:r>
              <a:rPr lang="en-US" b="1" dirty="0"/>
              <a:t>Click </a:t>
            </a:r>
            <a:r>
              <a:rPr lang="en-US" dirty="0"/>
              <a:t>and </a:t>
            </a:r>
            <a:r>
              <a:rPr lang="en-US" b="1" dirty="0"/>
              <a:t>Send</a:t>
            </a:r>
            <a:r>
              <a:rPr lang="en-US" dirty="0"/>
              <a:t> the new file to the </a:t>
            </a:r>
            <a:r>
              <a:rPr lang="en-US" b="1" dirty="0"/>
              <a:t>MULTITECH </a:t>
            </a:r>
            <a:r>
              <a:rPr lang="en-US" b="1" dirty="0" smtClean="0"/>
              <a:t>Drive:</a:t>
            </a:r>
            <a:r>
              <a:rPr lang="en-US" dirty="0" smtClean="0"/>
              <a:t>. 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  </a:t>
            </a:r>
            <a:r>
              <a:rPr lang="en-US" b="1" dirty="0"/>
              <a:t>Add</a:t>
            </a:r>
            <a:r>
              <a:rPr lang="en-US" dirty="0"/>
              <a:t> a </a:t>
            </a:r>
            <a:r>
              <a:rPr lang="en-US" b="1" dirty="0"/>
              <a:t>USB cable</a:t>
            </a:r>
            <a:r>
              <a:rPr lang="en-US" dirty="0"/>
              <a:t> to </a:t>
            </a:r>
            <a:r>
              <a:rPr lang="en-US" dirty="0" err="1"/>
              <a:t>D.fly</a:t>
            </a:r>
            <a:r>
              <a:rPr lang="en-US" dirty="0"/>
              <a:t> USB connector. </a:t>
            </a:r>
            <a:r>
              <a:rPr lang="en-US" b="1" dirty="0"/>
              <a:t>Wait</a:t>
            </a:r>
            <a:r>
              <a:rPr lang="en-US" dirty="0"/>
              <a:t> for the </a:t>
            </a:r>
            <a:r>
              <a:rPr lang="en-US" dirty="0" smtClean="0"/>
              <a:t>drivers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b="1" dirty="0" smtClean="0"/>
              <a:t>Start </a:t>
            </a:r>
            <a:r>
              <a:rPr lang="en-US" b="1" dirty="0" err="1"/>
              <a:t>Teraterm</a:t>
            </a:r>
            <a:r>
              <a:rPr lang="en-US" dirty="0"/>
              <a:t>, </a:t>
            </a:r>
            <a:r>
              <a:rPr lang="en-US" b="1" dirty="0"/>
              <a:t>Click</a:t>
            </a:r>
            <a:r>
              <a:rPr lang="en-US" dirty="0"/>
              <a:t> on </a:t>
            </a:r>
            <a:r>
              <a:rPr lang="en-US" b="1" dirty="0"/>
              <a:t>Serial</a:t>
            </a:r>
            <a:r>
              <a:rPr lang="en-US" dirty="0"/>
              <a:t>, </a:t>
            </a:r>
            <a:r>
              <a:rPr lang="en-US" b="1" dirty="0"/>
              <a:t>Select</a:t>
            </a:r>
            <a:r>
              <a:rPr lang="en-US" dirty="0"/>
              <a:t> the </a:t>
            </a:r>
            <a:r>
              <a:rPr lang="en-US" b="1" dirty="0" smtClean="0"/>
              <a:t>CORRECT PORT</a:t>
            </a:r>
            <a:r>
              <a:rPr lang="en-US" dirty="0" smtClean="0"/>
              <a:t>.  (the “    “ one)</a:t>
            </a:r>
          </a:p>
          <a:p>
            <a:pPr marL="571500" lvl="1" indent="-342900">
              <a:buFont typeface="+mj-lt"/>
              <a:buAutoNum type="alphaLcParenR"/>
            </a:pPr>
            <a:r>
              <a:rPr lang="en-US" dirty="0" smtClean="0"/>
              <a:t>Settings</a:t>
            </a:r>
            <a:r>
              <a:rPr lang="en-US" dirty="0"/>
              <a:t>: Setup, Serial, values are: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Baud </a:t>
            </a:r>
            <a:r>
              <a:rPr lang="en-US" dirty="0"/>
              <a:t>rate: </a:t>
            </a:r>
            <a:r>
              <a:rPr lang="en-US" dirty="0" smtClean="0"/>
              <a:t>230400(</a:t>
            </a:r>
            <a:r>
              <a:rPr lang="en-US" b="1" dirty="0" smtClean="0"/>
              <a:t>serial</a:t>
            </a:r>
            <a:r>
              <a:rPr lang="en-US" dirty="0" smtClean="0"/>
              <a:t>) 115200(</a:t>
            </a:r>
            <a:r>
              <a:rPr lang="en-US" b="1" dirty="0" err="1" smtClean="0"/>
              <a:t>Dfly</a:t>
            </a:r>
            <a:r>
              <a:rPr lang="en-US" b="1" dirty="0" smtClean="0"/>
              <a:t> USB</a:t>
            </a:r>
            <a:r>
              <a:rPr lang="en-US" dirty="0" smtClean="0"/>
              <a:t>), </a:t>
            </a:r>
            <a:r>
              <a:rPr lang="en-US" dirty="0"/>
              <a:t>Data: 8, Parity: N, Stop: 1,Flow: none.  </a:t>
            </a:r>
            <a:r>
              <a:rPr lang="en-US" b="1" dirty="0" smtClean="0"/>
              <a:t>ECHO</a:t>
            </a:r>
            <a:r>
              <a:rPr lang="en-US" dirty="0" smtClean="0"/>
              <a:t> may need to be turned </a:t>
            </a:r>
            <a:r>
              <a:rPr lang="en-US" b="1" dirty="0" smtClean="0"/>
              <a:t>On</a:t>
            </a:r>
            <a:r>
              <a:rPr lang="en-US" dirty="0" smtClean="0"/>
              <a:t> (</a:t>
            </a:r>
            <a:r>
              <a:rPr lang="en-US" b="1" dirty="0" smtClean="0"/>
              <a:t>Terminal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Dragonfly_Terminal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2013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533400" y="1276350"/>
            <a:ext cx="8458200" cy="3584575"/>
          </a:xfrm>
        </p:spPr>
        <p:txBody>
          <a:bodyPr>
            <a:noAutofit/>
          </a:bodyPr>
          <a:lstStyle/>
          <a:p>
            <a:r>
              <a:rPr lang="en-US" sz="1400" b="1" dirty="0"/>
              <a:t>NOTE: BACKSPACE</a:t>
            </a:r>
            <a:r>
              <a:rPr lang="en-US" sz="1400" dirty="0"/>
              <a:t> will cause the instructions to </a:t>
            </a:r>
            <a:r>
              <a:rPr lang="en-US" sz="1400" b="1" dirty="0"/>
              <a:t>FAIL.  </a:t>
            </a:r>
            <a:r>
              <a:rPr lang="en-US" sz="1400" dirty="0"/>
              <a:t>Just hit enter and </a:t>
            </a:r>
            <a:r>
              <a:rPr lang="en-US" sz="1400" dirty="0" smtClean="0"/>
              <a:t>re-type </a:t>
            </a:r>
            <a:endParaRPr lang="en-US" sz="1400" dirty="0"/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/>
              <a:t>at                      [if working, command responds with “OK”]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at+cpin</a:t>
            </a:r>
            <a:r>
              <a:rPr lang="en-US" sz="1400" dirty="0"/>
              <a:t>?            [Check SIM is detected] READY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at+cgdcont</a:t>
            </a:r>
            <a:r>
              <a:rPr lang="en-US" sz="1400" dirty="0"/>
              <a:t>=1,”IP</a:t>
            </a:r>
            <a:r>
              <a:rPr lang="en-US" sz="1400" dirty="0" smtClean="0"/>
              <a:t>”,”aer.aerisapn.net”   </a:t>
            </a:r>
            <a:r>
              <a:rPr lang="en-US" sz="1400" dirty="0"/>
              <a:t>[</a:t>
            </a:r>
            <a:r>
              <a:rPr lang="en-US" sz="1400" dirty="0" smtClean="0"/>
              <a:t>programs </a:t>
            </a:r>
            <a:r>
              <a:rPr lang="en-US" sz="1400" dirty="0"/>
              <a:t>SIM APN into modem]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at+cgdcont</a:t>
            </a:r>
            <a:r>
              <a:rPr lang="en-US" sz="1400" dirty="0"/>
              <a:t>?       [</a:t>
            </a:r>
            <a:r>
              <a:rPr lang="en-US" sz="1400" dirty="0" smtClean="0"/>
              <a:t>verify </a:t>
            </a:r>
            <a:r>
              <a:rPr lang="en-US" sz="1400" dirty="0"/>
              <a:t>APN is correct]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at+csq</a:t>
            </a:r>
            <a:r>
              <a:rPr lang="en-US" sz="1400" dirty="0"/>
              <a:t>               [Check signal </a:t>
            </a:r>
            <a:r>
              <a:rPr lang="en-US" sz="1400" dirty="0" smtClean="0"/>
              <a:t>strength </a:t>
            </a:r>
            <a:r>
              <a:rPr lang="en-US" sz="1400" dirty="0"/>
              <a:t>&gt;</a:t>
            </a:r>
            <a:r>
              <a:rPr lang="en-US" sz="1400" dirty="0" smtClean="0"/>
              <a:t>10, but 8 will still work] </a:t>
            </a:r>
            <a:endParaRPr lang="en-US" sz="1400" dirty="0"/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at+creg</a:t>
            </a:r>
            <a:r>
              <a:rPr lang="en-US" sz="1400" dirty="0"/>
              <a:t>?            [Check for successful network registration] +CREG:0,1 or +CREG:0,5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at+cnmi</a:t>
            </a:r>
            <a:r>
              <a:rPr lang="en-US" sz="1400" dirty="0"/>
              <a:t>=2,2,0,1,0   [Configure to route received SMS text direct to serial interface]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at+cmgf</a:t>
            </a:r>
            <a:r>
              <a:rPr lang="en-US" sz="1400" dirty="0"/>
              <a:t>=1         [text mode for SMS]</a:t>
            </a:r>
          </a:p>
          <a:p>
            <a:pPr marL="687515" lvl="1" indent="-229172">
              <a:buFont typeface="+mj-lt"/>
              <a:buAutoNum type="alphaLcParenR"/>
            </a:pPr>
            <a:r>
              <a:rPr lang="en-US" sz="1400" dirty="0" err="1"/>
              <a:t>at+cmgs</a:t>
            </a:r>
            <a:r>
              <a:rPr lang="en-US" sz="1400" dirty="0"/>
              <a:t>=”1##########”&lt;</a:t>
            </a:r>
            <a:r>
              <a:rPr lang="en-US" sz="1400" dirty="0" err="1"/>
              <a:t>cr</a:t>
            </a:r>
            <a:r>
              <a:rPr lang="en-US" sz="1400" dirty="0"/>
              <a:t>&gt;  [enter phone number # to send SMS text </a:t>
            </a:r>
            <a:r>
              <a:rPr lang="en-US" sz="1400" dirty="0" smtClean="0"/>
              <a:t>message]</a:t>
            </a:r>
            <a:br>
              <a:rPr lang="en-US" sz="1400" dirty="0" smtClean="0"/>
            </a:br>
            <a:r>
              <a:rPr lang="en-US" sz="1400" dirty="0"/>
              <a:t>	&gt;type </a:t>
            </a:r>
            <a:r>
              <a:rPr lang="en-US" sz="1400" dirty="0" err="1"/>
              <a:t>sms</a:t>
            </a:r>
            <a:r>
              <a:rPr lang="en-US" sz="1400" dirty="0"/>
              <a:t> message at greater than prompt&lt;Control-Z&gt; to send </a:t>
            </a:r>
            <a:endParaRPr lang="en-US" sz="1400" dirty="0" smtClean="0"/>
          </a:p>
          <a:p>
            <a:r>
              <a:rPr lang="en-US" sz="1400" dirty="0" smtClean="0"/>
              <a:t>   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Verify </a:t>
            </a:r>
            <a:r>
              <a:rPr lang="en-US" sz="1400" dirty="0"/>
              <a:t>SMS is </a:t>
            </a:r>
            <a:r>
              <a:rPr lang="en-US" sz="1400" dirty="0" smtClean="0"/>
              <a:t>received. On </a:t>
            </a:r>
            <a:r>
              <a:rPr lang="en-US" sz="1400" dirty="0"/>
              <a:t>phone that received SMS, respond by sending SMS back to modem number</a:t>
            </a:r>
            <a:r>
              <a:rPr lang="en-US" sz="1400" dirty="0" smtClean="0"/>
              <a:t>.</a:t>
            </a:r>
            <a:endParaRPr lang="en-US" sz="14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Dragonfly_Terminal</a:t>
            </a:r>
            <a:r>
              <a:rPr lang="en-US" dirty="0" smtClean="0"/>
              <a:t> and AT Commands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9787415">
            <a:off x="1492616" y="2602773"/>
            <a:ext cx="5858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DRAT need to get text working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143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at#sgact</a:t>
            </a:r>
            <a:r>
              <a:rPr lang="en-US" dirty="0" smtClean="0"/>
              <a:t>=1,1      </a:t>
            </a:r>
            <a:r>
              <a:rPr lang="en-US" dirty="0"/>
              <a:t>[verify packet data connection] CONNECT 10.123.54.21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at#ping</a:t>
            </a:r>
            <a:r>
              <a:rPr lang="en-US" dirty="0"/>
              <a:t>=”www.google.com”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/>
              <a:t>[Successful Ping response indicates Packet-Data is working]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If you have a server with a debug port:  </a:t>
            </a:r>
            <a:r>
              <a:rPr lang="en-US" dirty="0" err="1"/>
              <a:t>at#sd</a:t>
            </a:r>
            <a:r>
              <a:rPr lang="en-US" dirty="0"/>
              <a:t>=1,0,7000,”xxx.xxx.xxx.xxx” [Packet-Data connect to TCP </a:t>
            </a:r>
            <a:r>
              <a:rPr lang="en-US" dirty="0" err="1"/>
              <a:t>Svr</a:t>
            </a:r>
            <a:r>
              <a:rPr lang="en-US" dirty="0"/>
              <a:t> </a:t>
            </a:r>
            <a:r>
              <a:rPr lang="en-US" dirty="0" err="1"/>
              <a:t>xxx.xxx.xxx.xxx</a:t>
            </a:r>
            <a:r>
              <a:rPr lang="en-US" dirty="0"/>
              <a:t>. on port 7000]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at#sgact</a:t>
            </a:r>
            <a:r>
              <a:rPr lang="en-US" dirty="0"/>
              <a:t>=1,0       [terminate packet data connection</a:t>
            </a:r>
            <a:r>
              <a:rPr lang="en-US" dirty="0" smtClean="0"/>
              <a:t>]</a:t>
            </a:r>
            <a:endParaRPr lang="en-US" dirty="0"/>
          </a:p>
          <a:p>
            <a:pPr defTabSz="916686">
              <a:lnSpc>
                <a:spcPct val="100000"/>
              </a:lnSpc>
              <a:spcBef>
                <a:spcPct val="30000"/>
              </a:spcBef>
              <a:buClrTx/>
              <a:tabLst/>
              <a:defRPr/>
            </a:pPr>
            <a:r>
              <a:rPr lang="en-US" b="1" dirty="0"/>
              <a:t>NOTE</a:t>
            </a:r>
            <a:r>
              <a:rPr lang="en-US" dirty="0"/>
              <a:t>: System may need to be unplugged from </a:t>
            </a:r>
            <a:r>
              <a:rPr lang="en-US" dirty="0" err="1"/>
              <a:t>usb</a:t>
            </a:r>
            <a:r>
              <a:rPr lang="en-US" dirty="0"/>
              <a:t> to recycle power (wait 5 seconds for pc to catchup up).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NOTE</a:t>
            </a:r>
            <a:r>
              <a:rPr lang="en-US" dirty="0"/>
              <a:t>: Terminal may hang at random times, close and restart may be required.  (or </a:t>
            </a:r>
            <a:r>
              <a:rPr lang="en-US" dirty="0" err="1"/>
              <a:t>Alt+i</a:t>
            </a:r>
            <a:r>
              <a:rPr lang="en-US" dirty="0"/>
              <a:t>, </a:t>
            </a:r>
            <a:r>
              <a:rPr lang="en-US" dirty="0" err="1"/>
              <a:t>Alt+n</a:t>
            </a:r>
            <a:r>
              <a:rPr lang="en-US" dirty="0"/>
              <a:t>)</a:t>
            </a:r>
          </a:p>
          <a:p>
            <a:pPr defTabSz="916686">
              <a:defRPr/>
            </a:pPr>
            <a:endParaRPr lang="en-US" u="sng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Send a PING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85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Double Click on:  </a:t>
            </a:r>
            <a:r>
              <a:rPr lang="en-US" dirty="0" err="1" smtClean="0"/>
              <a:t>MTSAS_Cellular_SMS_Example</a:t>
            </a:r>
            <a:endParaRPr lang="en-US" dirty="0" smtClean="0"/>
          </a:p>
          <a:p>
            <a:endParaRPr lang="en-US" dirty="0"/>
          </a:p>
          <a:p>
            <a:pPr defTabSz="916686">
              <a:defRPr/>
            </a:pPr>
            <a:r>
              <a:rPr lang="en-US" u="sng" dirty="0"/>
              <a:t>Same text message but using C code and </a:t>
            </a:r>
            <a:r>
              <a:rPr lang="en-US" u="sng" dirty="0" err="1"/>
              <a:t>MuliTech</a:t>
            </a:r>
            <a:r>
              <a:rPr lang="en-US" u="sng" dirty="0"/>
              <a:t> commands</a:t>
            </a:r>
          </a:p>
          <a:p>
            <a:pPr defTabSz="916686">
              <a:defRPr/>
            </a:pPr>
            <a:endParaRPr lang="en-US" u="sng" dirty="0"/>
          </a:p>
          <a:p>
            <a:pPr marL="229172" indent="-229172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dirty="0" err="1"/>
              <a:t>mbed</a:t>
            </a:r>
            <a:r>
              <a:rPr lang="en-US" dirty="0"/>
              <a:t> web Program workspace </a:t>
            </a:r>
            <a:r>
              <a:rPr lang="en-US" b="1" dirty="0"/>
              <a:t>double Click </a:t>
            </a:r>
            <a:r>
              <a:rPr lang="en-US" dirty="0"/>
              <a:t>the program “</a:t>
            </a:r>
            <a:r>
              <a:rPr lang="en-US" b="1" dirty="0" err="1"/>
              <a:t>MTSAS_Cellular_SMS_Example</a:t>
            </a:r>
            <a:r>
              <a:rPr lang="en-US" dirty="0"/>
              <a:t>”</a:t>
            </a:r>
          </a:p>
          <a:p>
            <a:pPr marL="229172" indent="-229172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b="1" dirty="0"/>
              <a:t>Edit</a:t>
            </a:r>
            <a:r>
              <a:rPr lang="en-US" dirty="0"/>
              <a:t> </a:t>
            </a:r>
            <a:r>
              <a:rPr lang="en-US" b="1" dirty="0"/>
              <a:t>main.cpp</a:t>
            </a:r>
            <a:r>
              <a:rPr lang="en-US" dirty="0"/>
              <a:t> then Add the APN to line 11 </a:t>
            </a:r>
            <a:r>
              <a:rPr lang="en-US" dirty="0" smtClean="0"/>
              <a:t>“</a:t>
            </a:r>
            <a:r>
              <a:rPr lang="en-US" b="1" dirty="0" smtClean="0"/>
              <a:t>Fast.t-mobile.com</a:t>
            </a:r>
            <a:r>
              <a:rPr lang="en-US" dirty="0" smtClean="0"/>
              <a:t>” </a:t>
            </a:r>
            <a:endParaRPr lang="en-US" dirty="0"/>
          </a:p>
          <a:p>
            <a:pPr marL="229172" indent="-229172">
              <a:buFont typeface="+mj-lt"/>
              <a:buAutoNum type="alphaLcParenR"/>
            </a:pPr>
            <a:r>
              <a:rPr lang="en-US" dirty="0"/>
              <a:t> </a:t>
            </a:r>
            <a:r>
              <a:rPr lang="en-US" b="1" dirty="0"/>
              <a:t>Compile</a:t>
            </a:r>
            <a:r>
              <a:rPr lang="en-US" dirty="0"/>
              <a:t>, </a:t>
            </a:r>
            <a:r>
              <a:rPr lang="en-US" b="1" dirty="0"/>
              <a:t>Save, Find </a:t>
            </a:r>
            <a:r>
              <a:rPr lang="en-US" dirty="0"/>
              <a:t>the file “</a:t>
            </a:r>
            <a:r>
              <a:rPr lang="en-US" b="1" dirty="0" err="1"/>
              <a:t>MTS_Cellular_SMS_Example.bin</a:t>
            </a:r>
            <a:r>
              <a:rPr lang="en-US" dirty="0"/>
              <a:t>”  </a:t>
            </a:r>
            <a:r>
              <a:rPr lang="en-US" b="1" dirty="0"/>
              <a:t>Right Click</a:t>
            </a:r>
            <a:r>
              <a:rPr lang="en-US" dirty="0"/>
              <a:t> and send to </a:t>
            </a:r>
            <a:r>
              <a:rPr lang="en-US" dirty="0" smtClean="0"/>
              <a:t>“</a:t>
            </a:r>
            <a:r>
              <a:rPr lang="en-US" b="1" dirty="0" smtClean="0"/>
              <a:t>MULTITECH Drive</a:t>
            </a:r>
            <a:r>
              <a:rPr lang="en-US" b="1" dirty="0" smtClean="0"/>
              <a:t>:.)</a:t>
            </a:r>
            <a:r>
              <a:rPr lang="en-US" dirty="0" smtClean="0"/>
              <a:t>”</a:t>
            </a:r>
            <a:endParaRPr lang="en-US" dirty="0"/>
          </a:p>
          <a:p>
            <a:pPr marL="229172" indent="-229172" defTabSz="916686">
              <a:lnSpc>
                <a:spcPct val="100000"/>
              </a:lnSpc>
              <a:spcBef>
                <a:spcPct val="30000"/>
              </a:spcBef>
              <a:buClrTx/>
              <a:buFont typeface="+mj-lt"/>
              <a:buAutoNum type="alphaLcParenR"/>
              <a:tabLst/>
              <a:defRPr/>
            </a:pPr>
            <a:r>
              <a:rPr lang="en-US" dirty="0"/>
              <a:t> </a:t>
            </a:r>
            <a:r>
              <a:rPr lang="en-US" b="1" dirty="0"/>
              <a:t>Run</a:t>
            </a:r>
            <a:r>
              <a:rPr lang="en-US" dirty="0"/>
              <a:t> a </a:t>
            </a:r>
            <a:r>
              <a:rPr lang="en-US" b="1" dirty="0"/>
              <a:t>Terminal emulation</a:t>
            </a:r>
            <a:r>
              <a:rPr lang="en-US" dirty="0"/>
              <a:t> program (</a:t>
            </a:r>
            <a:r>
              <a:rPr lang="en-US" dirty="0" err="1"/>
              <a:t>e.gTeraTerm</a:t>
            </a:r>
            <a:r>
              <a:rPr lang="en-US" dirty="0"/>
              <a:t>, HyperTerminal, </a:t>
            </a:r>
            <a:r>
              <a:rPr lang="en-US" dirty="0" err="1"/>
              <a:t>minicom</a:t>
            </a:r>
            <a:r>
              <a:rPr lang="en-US" b="1" dirty="0"/>
              <a:t>).</a:t>
            </a:r>
            <a:endParaRPr lang="en-US" dirty="0"/>
          </a:p>
          <a:p>
            <a:pPr marL="229172" indent="-229172" defTabSz="916686">
              <a:lnSpc>
                <a:spcPct val="100000"/>
              </a:lnSpc>
              <a:spcBef>
                <a:spcPct val="30000"/>
              </a:spcBef>
              <a:buClrTx/>
              <a:buFont typeface="+mj-lt"/>
              <a:buAutoNum type="alphaLcParenR"/>
              <a:tabLst/>
              <a:defRPr/>
            </a:pPr>
            <a:r>
              <a:rPr lang="en-US" dirty="0" smtClean="0"/>
              <a:t> </a:t>
            </a:r>
            <a:r>
              <a:rPr lang="en-US" b="1" dirty="0" smtClean="0"/>
              <a:t>Configure </a:t>
            </a:r>
            <a:r>
              <a:rPr lang="en-US" b="1" dirty="0"/>
              <a:t>terminal emulation </a:t>
            </a:r>
            <a:r>
              <a:rPr lang="en-US" dirty="0"/>
              <a:t>the PC Terminal program for 9600bps, 8, None, 1 and select the correct Com port. </a:t>
            </a:r>
            <a:br>
              <a:rPr lang="en-US" dirty="0"/>
            </a:br>
            <a:r>
              <a:rPr lang="en-US" dirty="0"/>
              <a:t>* Terminal will show when the device sends the message and when a reply is sent.</a:t>
            </a:r>
            <a:br>
              <a:rPr lang="en-US" dirty="0"/>
            </a:br>
            <a:r>
              <a:rPr lang="en-US" dirty="0"/>
              <a:t>* The send message can take some time.  Just wait.</a:t>
            </a:r>
            <a:br>
              <a:rPr lang="en-US" dirty="0"/>
            </a:br>
            <a:r>
              <a:rPr lang="en-US" dirty="0"/>
              <a:t>* Terminal programs may need to reset between downloads (They get lost at times).</a:t>
            </a:r>
            <a:br>
              <a:rPr lang="en-US" dirty="0"/>
            </a:br>
            <a:r>
              <a:rPr lang="en-US" dirty="0"/>
              <a:t>*  The </a:t>
            </a:r>
            <a:r>
              <a:rPr lang="en-US" dirty="0" err="1"/>
              <a:t>dev</a:t>
            </a:r>
            <a:r>
              <a:rPr lang="en-US" dirty="0"/>
              <a:t> kit may need to be unplugged to reset, wait 5-10 seconds to allow pc to clean up connections.</a:t>
            </a:r>
          </a:p>
          <a:p>
            <a:pPr marL="229172" indent="-229172" defTabSz="916686">
              <a:buFont typeface="+mj-lt"/>
              <a:buAutoNum type="alphaLcParenR"/>
              <a:defRPr/>
            </a:pPr>
            <a:r>
              <a:rPr lang="en-US" dirty="0"/>
              <a:t> </a:t>
            </a:r>
            <a:r>
              <a:rPr lang="en-US" b="1" dirty="0"/>
              <a:t>Reply</a:t>
            </a:r>
            <a:r>
              <a:rPr lang="en-US" dirty="0"/>
              <a:t> to the text your phone receives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Send a SMS inside </a:t>
            </a:r>
            <a:r>
              <a:rPr lang="en-US" dirty="0" err="1" smtClean="0"/>
              <a:t>mbed</a:t>
            </a:r>
            <a:r>
              <a:rPr lang="en-US" dirty="0" smtClean="0"/>
              <a:t> using </a:t>
            </a:r>
            <a:r>
              <a:rPr lang="en-US" dirty="0" err="1" smtClean="0"/>
              <a:t>MultiTech.h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9787415">
            <a:off x="1492616" y="2602773"/>
            <a:ext cx="5858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DRAT need to get text working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495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did I spend all that time with </a:t>
            </a:r>
            <a:br>
              <a:rPr lang="en-US" dirty="0" smtClean="0"/>
            </a:br>
            <a:r>
              <a:rPr lang="en-US" dirty="0" smtClean="0"/>
              <a:t>AT Commands?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1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</a:t>
            </a:r>
            <a:r>
              <a:rPr lang="en-US" sz="3600" b="1" dirty="0" smtClean="0"/>
              <a:t>2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for </a:t>
            </a:r>
            <a:r>
              <a:rPr lang="en-US" dirty="0" smtClean="0"/>
              <a:t>Dragonfly / </a:t>
            </a:r>
            <a:r>
              <a:rPr lang="en-US" dirty="0" smtClean="0"/>
              <a:t>ST Sensor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0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361950"/>
            <a:ext cx="8153400" cy="871538"/>
          </a:xfrm>
        </p:spPr>
        <p:txBody>
          <a:bodyPr>
            <a:normAutofit/>
          </a:bodyPr>
          <a:lstStyle/>
          <a:p>
            <a:r>
              <a:rPr lang="en-US" dirty="0" smtClean="0"/>
              <a:t>Replace </a:t>
            </a:r>
            <a:r>
              <a:rPr lang="en-US" dirty="0" smtClean="0"/>
              <a:t>Grove with </a:t>
            </a:r>
            <a:r>
              <a:rPr lang="en-US" dirty="0" err="1" smtClean="0"/>
              <a:t>STMicro</a:t>
            </a:r>
            <a:r>
              <a:rPr lang="en-US" dirty="0" smtClean="0"/>
              <a:t> </a:t>
            </a:r>
            <a:r>
              <a:rPr lang="en-US" dirty="0" smtClean="0"/>
              <a:t>Sensor Board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352550"/>
            <a:ext cx="5181599" cy="3562351"/>
          </a:xfrm>
        </p:spPr>
        <p:txBody>
          <a:bodyPr>
            <a:norm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50" dirty="0" smtClean="0"/>
              <a:t> </a:t>
            </a:r>
            <a:r>
              <a:rPr lang="en-US" sz="1200" b="1" dirty="0" smtClean="0"/>
              <a:t>Unplug</a:t>
            </a:r>
            <a:r>
              <a:rPr lang="en-US" sz="1200" dirty="0" smtClean="0"/>
              <a:t> </a:t>
            </a:r>
            <a:r>
              <a:rPr lang="en-US" sz="1200" dirty="0"/>
              <a:t>the </a:t>
            </a:r>
            <a:r>
              <a:rPr lang="en-US" sz="1200" dirty="0" smtClean="0"/>
              <a:t>UDK from power, remove the Grove Board,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 smtClean="0"/>
              <a:t> </a:t>
            </a:r>
            <a:r>
              <a:rPr lang="en-US" sz="1200" b="1" dirty="0" smtClean="0"/>
              <a:t>Replace</a:t>
            </a:r>
            <a:r>
              <a:rPr lang="en-US" sz="1200" dirty="0" smtClean="0"/>
              <a:t> </a:t>
            </a:r>
            <a:r>
              <a:rPr lang="en-US" sz="1200" dirty="0"/>
              <a:t>the </a:t>
            </a:r>
            <a:r>
              <a:rPr lang="en-US" sz="1200" dirty="0" smtClean="0"/>
              <a:t>Grove board with </a:t>
            </a:r>
            <a:r>
              <a:rPr lang="en-US" sz="1200" b="1" dirty="0"/>
              <a:t>ST Sensor board</a:t>
            </a:r>
          </a:p>
          <a:p>
            <a:pPr marL="229172" indent="-229172">
              <a:buFont typeface="+mj-lt"/>
              <a:buAutoNum type="arabicPeriod"/>
            </a:pPr>
            <a:r>
              <a:rPr lang="en-US" sz="1200" dirty="0"/>
              <a:t> Plug </a:t>
            </a:r>
            <a:r>
              <a:rPr lang="en-US" sz="1200" b="1" dirty="0" smtClean="0"/>
              <a:t>Power</a:t>
            </a:r>
            <a:r>
              <a:rPr lang="en-US" sz="1200" dirty="0" smtClean="0"/>
              <a:t> then </a:t>
            </a:r>
            <a:r>
              <a:rPr lang="en-US" sz="1200" b="1" dirty="0" smtClean="0"/>
              <a:t>USB</a:t>
            </a:r>
            <a:r>
              <a:rPr lang="en-US" sz="1200" dirty="0" smtClean="0"/>
              <a:t> into the system.</a:t>
            </a:r>
            <a:endParaRPr lang="en-US" sz="1200" dirty="0"/>
          </a:p>
          <a:p>
            <a:pPr marL="229172" indent="-229172">
              <a:buFont typeface="+mj-lt"/>
              <a:buAutoNum type="arabicPeriod"/>
            </a:pPr>
            <a:r>
              <a:rPr lang="en-US" sz="1200" dirty="0"/>
              <a:t> Go to </a:t>
            </a:r>
            <a:r>
              <a:rPr lang="en-US" sz="1200" b="1" dirty="0"/>
              <a:t>Compiler</a:t>
            </a:r>
            <a:r>
              <a:rPr lang="en-US" sz="1200" dirty="0"/>
              <a:t>, Find the </a:t>
            </a:r>
            <a:r>
              <a:rPr lang="en-US" sz="1200" dirty="0" smtClean="0"/>
              <a:t>“</a:t>
            </a:r>
            <a:r>
              <a:rPr lang="en-US" sz="1200" b="1" dirty="0" err="1" smtClean="0"/>
              <a:t>Dragonfly_ST_Mems</a:t>
            </a:r>
            <a:r>
              <a:rPr lang="en-US" sz="1200" dirty="0" smtClean="0"/>
              <a:t>” </a:t>
            </a:r>
            <a:r>
              <a:rPr lang="en-US" sz="1200" dirty="0"/>
              <a:t>program to bring it into your Program Workspace. </a:t>
            </a:r>
          </a:p>
          <a:p>
            <a:pPr marL="229172" indent="-229172">
              <a:buFont typeface="+mj-lt"/>
              <a:buAutoNum type="arabicPeriod"/>
            </a:pPr>
            <a:r>
              <a:rPr lang="en-US" sz="1200" dirty="0" smtClean="0"/>
              <a:t> </a:t>
            </a:r>
            <a:r>
              <a:rPr lang="en-US" sz="1200" b="1" dirty="0" smtClean="0"/>
              <a:t>Compile,</a:t>
            </a:r>
            <a:r>
              <a:rPr lang="en-US" sz="1200" dirty="0" smtClean="0"/>
              <a:t> </a:t>
            </a:r>
            <a:r>
              <a:rPr lang="en-US" sz="1200" b="1" dirty="0" smtClean="0"/>
              <a:t>Save, Download </a:t>
            </a:r>
            <a:r>
              <a:rPr lang="en-US" sz="1200" dirty="0" smtClean="0"/>
              <a:t>file </a:t>
            </a:r>
            <a:r>
              <a:rPr lang="en-US" sz="1200" dirty="0"/>
              <a:t>to </a:t>
            </a:r>
            <a:r>
              <a:rPr lang="en-US" sz="1200" dirty="0" smtClean="0"/>
              <a:t>MULTITECH Drive:</a:t>
            </a:r>
            <a:br>
              <a:rPr lang="en-US" sz="1200" dirty="0" smtClean="0"/>
            </a:br>
            <a:r>
              <a:rPr lang="en-US" sz="1200" dirty="0" smtClean="0"/>
              <a:t> (</a:t>
            </a:r>
            <a:r>
              <a:rPr lang="en-US" sz="1200" dirty="0"/>
              <a:t>Chrome: </a:t>
            </a:r>
            <a:r>
              <a:rPr lang="en-US" sz="1200" dirty="0" err="1"/>
              <a:t>Ctrl+J</a:t>
            </a:r>
            <a:r>
              <a:rPr lang="en-US" sz="1200" dirty="0"/>
              <a:t> shows the file location)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 </a:t>
            </a:r>
            <a:r>
              <a:rPr lang="en-US" sz="1200" b="1" dirty="0" smtClean="0"/>
              <a:t>Run</a:t>
            </a:r>
            <a:r>
              <a:rPr lang="en-US" sz="1200" dirty="0" smtClean="0"/>
              <a:t> </a:t>
            </a:r>
            <a:r>
              <a:rPr lang="en-US" sz="1200" b="1" dirty="0" err="1" smtClean="0"/>
              <a:t>Teraterm</a:t>
            </a:r>
            <a:r>
              <a:rPr lang="en-US" sz="1200" b="1" dirty="0" smtClean="0"/>
              <a:t> </a:t>
            </a:r>
            <a:r>
              <a:rPr lang="en-US" sz="1200" dirty="0" smtClean="0"/>
              <a:t>(</a:t>
            </a:r>
            <a:endParaRPr lang="en-US" sz="1200" dirty="0" smtClean="0"/>
          </a:p>
          <a:p>
            <a:pPr marL="229172" indent="-229172">
              <a:buFont typeface="+mj-lt"/>
              <a:buAutoNum type="arabicPeriod"/>
            </a:pPr>
            <a:r>
              <a:rPr lang="en-US" sz="1200" dirty="0" smtClean="0"/>
              <a:t>Configure </a:t>
            </a:r>
            <a:r>
              <a:rPr lang="en-US" sz="1200" dirty="0"/>
              <a:t>the PC Terminal program for 9600bps, 8, None, 1 and 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select </a:t>
            </a:r>
            <a:r>
              <a:rPr lang="en-US" sz="1200" dirty="0"/>
              <a:t>the correct Com port. </a:t>
            </a:r>
          </a:p>
          <a:p>
            <a:r>
              <a:rPr lang="en-US" sz="1200" dirty="0" smtClean="0"/>
              <a:t>The </a:t>
            </a:r>
            <a:r>
              <a:rPr lang="en-US" sz="1200" dirty="0"/>
              <a:t>terminal will show you the values of senor data</a:t>
            </a:r>
            <a:r>
              <a:rPr lang="en-US" sz="1200" dirty="0" smtClean="0"/>
              <a:t>.</a:t>
            </a:r>
            <a:br>
              <a:rPr lang="en-US" sz="1200" dirty="0" smtClean="0"/>
            </a:br>
            <a:r>
              <a:rPr lang="en-US" sz="1200" dirty="0" smtClean="0"/>
              <a:t> Z </a:t>
            </a:r>
            <a:r>
              <a:rPr lang="en-US" sz="1200" dirty="0"/>
              <a:t>is </a:t>
            </a:r>
            <a:r>
              <a:rPr lang="en-US" sz="1200" dirty="0" smtClean="0"/>
              <a:t>vertical</a:t>
            </a:r>
            <a:br>
              <a:rPr lang="en-US" sz="1200" dirty="0" smtClean="0"/>
            </a:br>
            <a:r>
              <a:rPr lang="en-US" sz="1200" dirty="0" smtClean="0"/>
              <a:t> X </a:t>
            </a:r>
            <a:r>
              <a:rPr lang="en-US" sz="1200" dirty="0"/>
              <a:t>is the </a:t>
            </a:r>
            <a:r>
              <a:rPr lang="en-US" sz="1200" dirty="0" smtClean="0"/>
              <a:t>USB Programming </a:t>
            </a:r>
            <a:r>
              <a:rPr lang="en-US" sz="1200" dirty="0"/>
              <a:t>side of the </a:t>
            </a:r>
            <a:r>
              <a:rPr lang="en-US" sz="1200" dirty="0" smtClean="0"/>
              <a:t>board</a:t>
            </a:r>
            <a:br>
              <a:rPr lang="en-US" sz="1200" dirty="0" smtClean="0"/>
            </a:br>
            <a:r>
              <a:rPr lang="en-US" sz="1200" dirty="0" smtClean="0"/>
              <a:t> </a:t>
            </a:r>
            <a:r>
              <a:rPr lang="en-US" sz="1200" dirty="0"/>
              <a:t>Y is the </a:t>
            </a:r>
            <a:r>
              <a:rPr lang="en-US" sz="1200" dirty="0" smtClean="0"/>
              <a:t>RS232 </a:t>
            </a:r>
            <a:r>
              <a:rPr lang="en-US" sz="1200" dirty="0"/>
              <a:t>side of the board</a:t>
            </a:r>
            <a:r>
              <a:rPr lang="en-US" sz="1200" dirty="0" smtClean="0"/>
              <a:t>.</a:t>
            </a:r>
          </a:p>
          <a:p>
            <a:pPr marL="228600" indent="-228600">
              <a:buFont typeface="+mj-lt"/>
              <a:buAutoNum type="arabicPeriod" startAt="8"/>
            </a:pPr>
            <a:r>
              <a:rPr lang="en-US" sz="1200" dirty="0" smtClean="0"/>
              <a:t> </a:t>
            </a:r>
            <a:r>
              <a:rPr lang="en-US" sz="1200" b="1" dirty="0" smtClean="0"/>
              <a:t>Commit </a:t>
            </a:r>
            <a:r>
              <a:rPr lang="en-US" sz="1200" dirty="0" smtClean="0"/>
              <a:t>the code.  </a:t>
            </a:r>
            <a:r>
              <a:rPr lang="en-US" sz="1200" b="1" dirty="0" smtClean="0"/>
              <a:t>Without </a:t>
            </a:r>
            <a:r>
              <a:rPr lang="en-US" sz="1200" b="1" dirty="0"/>
              <a:t>breaking the system.</a:t>
            </a:r>
            <a:r>
              <a:rPr lang="en-US" sz="1200" dirty="0"/>
              <a:t> Try to see if the board can detect a free fall</a:t>
            </a:r>
            <a:r>
              <a:rPr lang="en-US" sz="1200" dirty="0" smtClean="0"/>
              <a:t>. Or Enable other sensors.</a:t>
            </a:r>
            <a:endParaRPr lang="en-US" sz="1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898" y="1267883"/>
            <a:ext cx="2755901" cy="1837267"/>
          </a:xfrm>
        </p:spPr>
      </p:pic>
    </p:spTree>
    <p:extLst>
      <p:ext uri="{BB962C8B-B14F-4D97-AF65-F5344CB8AC3E}">
        <p14:creationId xmlns:p14="http://schemas.microsoft.com/office/powerpoint/2010/main" val="247636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</a:t>
            </a:r>
            <a:r>
              <a:rPr lang="en-US" sz="3600" b="1" dirty="0" smtClean="0"/>
              <a:t>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</a:t>
            </a:r>
            <a:r>
              <a:rPr lang="en-US" dirty="0" smtClean="0"/>
              <a:t>for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Dragonfly/ Sensor/ </a:t>
            </a:r>
            <a:r>
              <a:rPr lang="en-US" dirty="0" err="1" smtClean="0"/>
              <a:t>Aeris</a:t>
            </a:r>
            <a:r>
              <a:rPr lang="en-US" dirty="0" smtClean="0"/>
              <a:t> Sim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353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99" y="1210250"/>
            <a:ext cx="5550227" cy="3700151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Connection Locations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Attach the </a:t>
            </a:r>
            <a:r>
              <a:rPr lang="en-US" dirty="0" smtClean="0"/>
              <a:t>Grove Shield to </a:t>
            </a:r>
            <a:r>
              <a:rPr lang="en-US" dirty="0" smtClean="0"/>
              <a:t>the </a:t>
            </a:r>
            <a:r>
              <a:rPr lang="en-US" dirty="0" smtClean="0"/>
              <a:t>MultiTech UDK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Attach the </a:t>
            </a:r>
            <a:r>
              <a:rPr lang="en-US" dirty="0" smtClean="0"/>
              <a:t>Moisture to </a:t>
            </a:r>
            <a:r>
              <a:rPr lang="en-US" dirty="0" smtClean="0"/>
              <a:t>A0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Attach the button to D5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09600" y="590550"/>
            <a:ext cx="39901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kern="0" spc="-50" dirty="0" smtClean="0">
                <a:solidFill>
                  <a:srgbClr val="4F81BD"/>
                </a:solidFill>
                <a:latin typeface="Century Gothic" pitchFamily="34" charset="0"/>
                <a:cs typeface="+mj-cs"/>
              </a:rPr>
              <a:t>Moisture Sensor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74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In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program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Dragonfly_Moisture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and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Double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main.cpp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 Line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22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change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the number to your cell phone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Change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the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APN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aer.aerisapn.net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Compile and Send to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MULTITECH Drive:</a:t>
            </a: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Terminal Program and select serial port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Try changing the value of the meter.</a:t>
            </a: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Dragonfly_Moisture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9787415">
            <a:off x="1492616" y="2602773"/>
            <a:ext cx="5858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DRAT need to get text working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8271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Breathalyzer </a:t>
            </a:r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385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15 Minute Break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A37609-052A-4B6C-92B0-DDF7F32631C6}" type="datetime1">
              <a:rPr lang="en-US" smtClean="0"/>
              <a:pPr>
                <a:defRPr/>
              </a:pPr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367799-C244-4380-BE59-48C45A25658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0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</a:t>
            </a:r>
            <a:r>
              <a:rPr lang="en-US" sz="3600" b="1" dirty="0"/>
              <a:t>4</a:t>
            </a:r>
            <a:r>
              <a:rPr lang="en-US" sz="3600" b="1" dirty="0" smtClean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mbed</a:t>
            </a:r>
            <a:r>
              <a:rPr lang="en-US" dirty="0" smtClean="0"/>
              <a:t> Instructions for </a:t>
            </a:r>
            <a:r>
              <a:rPr lang="en-US" dirty="0" smtClean="0"/>
              <a:t>Sending data to the Cloud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Aeris</a:t>
            </a:r>
            <a:r>
              <a:rPr lang="en-US" dirty="0" smtClean="0"/>
              <a:t> </a:t>
            </a:r>
            <a:r>
              <a:rPr lang="en-US" dirty="0" err="1" smtClean="0"/>
              <a:t>Aerport</a:t>
            </a:r>
            <a:r>
              <a:rPr lang="en-US" dirty="0" smtClean="0"/>
              <a:t> / Sensor</a:t>
            </a:r>
            <a:r>
              <a:rPr lang="en-US" dirty="0" smtClean="0"/>
              <a:t>/ </a:t>
            </a:r>
            <a:r>
              <a:rPr lang="en-US" dirty="0" smtClean="0"/>
              <a:t>Dragonfly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7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Download </a:t>
            </a:r>
            <a:r>
              <a:rPr lang="en-US" dirty="0" smtClean="0"/>
              <a:t>the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Aeris</a:t>
            </a:r>
            <a:r>
              <a:rPr lang="en-US" dirty="0" smtClean="0"/>
              <a:t> Navigation/Creation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Finding the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438150"/>
            <a:ext cx="8458200" cy="857250"/>
          </a:xfrm>
        </p:spPr>
        <p:txBody>
          <a:bodyPr/>
          <a:lstStyle/>
          <a:p>
            <a:r>
              <a:rPr lang="en-US" dirty="0" smtClean="0"/>
              <a:t>LAB 4: </a:t>
            </a:r>
            <a:r>
              <a:rPr lang="en-US" dirty="0" err="1" smtClean="0"/>
              <a:t>IoT</a:t>
            </a:r>
            <a:r>
              <a:rPr lang="en-US" dirty="0" smtClean="0"/>
              <a:t> Platform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371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Go to:  </a:t>
            </a:r>
            <a:r>
              <a:rPr lang="en-US" u="sng" dirty="0" smtClean="0">
                <a:hlinkClick r:id="rId3"/>
              </a:rPr>
              <a:t>http</a:t>
            </a:r>
            <a:r>
              <a:rPr lang="en-US" u="sng" dirty="0">
                <a:hlinkClick r:id="rId3"/>
              </a:rPr>
              <a:t>://developer.mbed.org/teams/AerCloud/code/Aeris_Multitech_Moisture_Alcohol/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Import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program </a:t>
            </a: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main.cpp for editing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In a new window (easier with a new window vs tab) open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 To </a:t>
            </a:r>
            <a:r>
              <a:rPr lang="en-US" u="sng" dirty="0">
                <a:hlinkClick r:id="rId4"/>
              </a:rPr>
              <a:t>https://</a:t>
            </a:r>
            <a:r>
              <a:rPr lang="en-US" u="sng" dirty="0" smtClean="0">
                <a:hlinkClick r:id="rId4"/>
              </a:rPr>
              <a:t>aerport.aeris.net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Login </a:t>
            </a:r>
            <a:r>
              <a:rPr lang="en-US" dirty="0" smtClean="0"/>
              <a:t>id</a:t>
            </a:r>
            <a:r>
              <a:rPr lang="en-US" dirty="0"/>
              <a:t>: </a:t>
            </a:r>
            <a:r>
              <a:rPr lang="en-US" u="sng" dirty="0" smtClean="0">
                <a:hlinkClick r:id="rId5"/>
              </a:rPr>
              <a:t>aercloud.trainee@aeris.net</a:t>
            </a:r>
            <a:r>
              <a:rPr lang="en-US" u="sng" dirty="0" smtClean="0"/>
              <a:t>  </a:t>
            </a:r>
            <a:r>
              <a:rPr lang="en-US" b="1" dirty="0" smtClean="0"/>
              <a:t>Password</a:t>
            </a:r>
            <a:r>
              <a:rPr lang="en-US" dirty="0"/>
              <a:t>: A3r1s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Finding the Program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15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1" y="438150"/>
            <a:ext cx="4800600" cy="186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647950"/>
            <a:ext cx="3788763" cy="220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361950"/>
            <a:ext cx="8458200" cy="857250"/>
          </a:xfrm>
        </p:spPr>
        <p:txBody>
          <a:bodyPr>
            <a:normAutofit/>
          </a:bodyPr>
          <a:lstStyle/>
          <a:p>
            <a:r>
              <a:rPr lang="en-US" dirty="0" err="1" smtClean="0"/>
              <a:t>Aeris</a:t>
            </a:r>
            <a:r>
              <a:rPr lang="en-US" dirty="0" smtClean="0"/>
              <a:t> </a:t>
            </a:r>
            <a:r>
              <a:rPr lang="en-US" dirty="0" err="1" smtClean="0"/>
              <a:t>Aerport</a:t>
            </a:r>
            <a:r>
              <a:rPr lang="en-US" dirty="0" smtClean="0"/>
              <a:t> 2b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381000" y="1123951"/>
            <a:ext cx="4343400" cy="3733800"/>
          </a:xfrm>
        </p:spPr>
        <p:txBody>
          <a:bodyPr>
            <a:normAutofit fontScale="47500" lnSpcReduction="20000"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endParaRPr lang="en-US" b="1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endParaRPr lang="en-US" b="1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AerCloud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 (top of page)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Copy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Company number to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_ACCOUNT_ID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 Key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 (just under  and to the right of Company number)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Copy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large random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number of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Account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_API_KEY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the Cellular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APN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 name for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_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Device_ID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Note _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Container_ID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will be set later.</a:t>
            </a:r>
          </a:p>
          <a:p>
            <a:pPr>
              <a:lnSpc>
                <a:spcPct val="120000"/>
              </a:lnSpc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696200" y="590550"/>
            <a:ext cx="381000" cy="2133600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239000" y="1447107"/>
            <a:ext cx="1371600" cy="1200843"/>
          </a:xfrm>
          <a:prstGeom prst="straightConnector1">
            <a:avLst/>
          </a:prstGeom>
          <a:ln w="3492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15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Aeris</a:t>
            </a:r>
            <a:r>
              <a:rPr lang="en-US" dirty="0" smtClean="0"/>
              <a:t> </a:t>
            </a:r>
            <a:r>
              <a:rPr lang="en-US" dirty="0" err="1" smtClean="0"/>
              <a:t>Aerport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Go back to 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AerCloud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tab.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Create New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 select “Data Model”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Add the Data Model Name (no spaces)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Data Model Identifier is added.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 Description is you wish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Encoding must be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07408"/>
            <a:ext cx="4191000" cy="327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88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Aeris</a:t>
            </a:r>
            <a:r>
              <a:rPr lang="en-US" dirty="0" smtClean="0"/>
              <a:t> </a:t>
            </a:r>
            <a:r>
              <a:rPr lang="en-US" dirty="0" err="1" smtClean="0"/>
              <a:t>Aerport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Enter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the sensor names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xxx, </a:t>
            </a:r>
            <a:r>
              <a:rPr lang="en-US" b="1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yyy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b="1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zzz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STRING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Enter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sensor names</a:t>
            </a:r>
            <a:b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pressure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temperature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FLOAT</a:t>
            </a:r>
            <a:endParaRPr lang="en-US" b="1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Check “Index” if the data is to be sorted.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Click Save 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028950"/>
            <a:ext cx="5566548" cy="1527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73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Aeris</a:t>
            </a:r>
            <a:r>
              <a:rPr lang="en-US" dirty="0" smtClean="0"/>
              <a:t> Create Container &amp; Subscription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 unique Container Identifier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Future_Training_xxxxxxx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  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(IMEI Number on Socket Modem)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Modify </a:t>
            </a:r>
            <a:r>
              <a:rPr lang="en-US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mbed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</a:t>
            </a:r>
            <a:r>
              <a:rPr lang="en-US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Container_ID</a:t>
            </a:r>
            <a:r>
              <a:rPr lang="en-US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same unique name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Save&amp; Add Subscription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Add Subscription tab: 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“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endParaRPr lang="en-US" kern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Title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the 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mbed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program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Change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Subscription Type “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LONG POLLING”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Contact URL should match the 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mbed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program variables. 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Copy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URL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n the program as a reference.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Click Save.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Go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back to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477214"/>
            <a:ext cx="4191000" cy="1332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31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Compile 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program and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Download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to Platform (same process as before)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TeraTerm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on the right Com Port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Double Click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on the </a:t>
            </a:r>
            <a:r>
              <a:rPr lang="en-US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HTTP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web address from the terminal program.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This is the Long Poll Location of the data from the sensor.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web browser may clock while waiting for data to show up from the </a:t>
            </a:r>
            <a:r>
              <a:rPr lang="en-US" kern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mbed</a:t>
            </a:r>
            <a: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demo.   Refresh as needed.</a:t>
            </a:r>
            <a:br>
              <a:rPr lang="en-US" kern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kern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Compile &amp; Data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47D-24BF-494D-9D0D-2BC61D74EA0E}" type="datetime1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Proprietary and Confidential. © 2014 Multi-Tech Systems, Inc. All Rights Reserved.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9787415">
            <a:off x="3185006" y="2602773"/>
            <a:ext cx="2473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Needs Work</a:t>
            </a: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39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038350"/>
            <a:ext cx="8229600" cy="1981200"/>
          </a:xfrm>
        </p:spPr>
        <p:txBody>
          <a:bodyPr/>
          <a:lstStyle/>
          <a:p>
            <a:pPr marL="36576" eaLnBrk="1" hangingPunct="1">
              <a:defRPr/>
            </a:pPr>
            <a:r>
              <a:rPr lang="en-US" sz="3600" b="1" dirty="0" smtClean="0"/>
              <a:t>LAB Review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to find/Is it repeatable/What do you need?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647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2195098" y="436989"/>
          <a:ext cx="5134804" cy="44219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08"/>
                <a:gridCol w="754806"/>
                <a:gridCol w="356141"/>
                <a:gridCol w="372087"/>
                <a:gridCol w="489029"/>
                <a:gridCol w="441189"/>
                <a:gridCol w="441189"/>
                <a:gridCol w="441189"/>
                <a:gridCol w="632548"/>
                <a:gridCol w="441189"/>
                <a:gridCol w="489029"/>
              </a:tblGrid>
              <a:tr h="123586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800" u="none" strike="noStrike">
                          <a:effectLst/>
                        </a:rPr>
                        <a:t>Dragonfly (MTQ) pin out assignments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98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MTQ Pin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MTQ Name 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UDK 2.0 Arduino pin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mbed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GPIO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Programming Interface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SPI Interface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I2C Interface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USARTs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Timer functions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SDIO Functions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500" u="none" strike="noStrike">
                          <a:effectLst/>
                        </a:rPr>
                        <a:t>ADC Channels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b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DBG_TX (mbed dbgTX)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I2C1_SCL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USART1_TX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TIM4_CH1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J_TCK/SWCLK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JTCK-SWCLK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J_TDI/C_MON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JTDI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SPI1_NSS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USART1_TX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TIM2_CH1/TIM2_ETR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J_RST/P_GOOD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JTRST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SPI1_MISO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I2C3_SDA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TIM3_CH1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2750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IO_00/RXD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USART2_TX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TIM2_CH3,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TIM5_CH3,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TIM9_CH1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IO_01/DCD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SPI1_MOSI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TIM1_CH1N,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TIM3_CH2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IO_02/RI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TIM1_CH3N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TIM3_CH4,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IO_03/CTS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USART2_RTS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TIM2_CH2,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TIM5_CH2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IO_04/MOSI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SPI1_MOSI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I2C1_SMBA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TIM3_CH2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IO_05/SCK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SPI1_SCK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TIM2_CH1/TIM2_ET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IO_06/SCL/SS1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I2C1_SCL,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I2C3_SDA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TIM4_CH3,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TIM10_CH1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PB_15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SPI2_MOSI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TIM1_CH3N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SDIO_CK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SPI2_MISO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19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IO_09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TIM1_CH2N,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TIM3_CH3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ADC1_11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SPI2_SCK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TIM1_CH1N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A5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I2C3_SDA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MCO_2,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TIM3_CH4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IO_15/SDA/SRDY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D14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SPI2_NSS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I2C1_SDA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TIM4_CH4,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TIM11_CH1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IO_16/MISO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SPI1_MISO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TIM1_BKIN,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TIM3_CH1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SDIO_CMD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ADC1_6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IO_17/SS2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D10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PC_8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TIM3_CH3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29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IO_18/RTS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PA_0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(WKUP)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USART2_CTS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TIM2_CH1/TIM2_ET,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TIM5_CH1,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IO_19/DSR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D5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I2C3_SMBA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USART1_TX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TIM1_CH2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183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IO_20/DTR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I2C3_SCL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MCO_1,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TIM1_CH1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SDIO_D1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2750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IO_21/TXD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USART2_RX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TIM2_CH4,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TIM5_CH4,</a:t>
                      </a:r>
                      <a:br>
                        <a:rPr lang="en-US" sz="500" u="none" strike="noStrike">
                          <a:effectLst/>
                        </a:rPr>
                      </a:br>
                      <a:r>
                        <a:rPr lang="en-US" sz="500" u="none" strike="noStrike">
                          <a:effectLst/>
                        </a:rPr>
                        <a:t>TIM9_CH2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ADC1_3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38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J_TDO/SWO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JTDO-SWO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SPI1_SCK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USART1_RX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TIM2_CH2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39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J_TMS/SWDIO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PA_13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JTMS-SWDIO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  <a:tr h="916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40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DBG_RX (mbed dbgRX)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PB_7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 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I2C1_SDA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USART1_RX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TIM4_CH2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>
                          <a:effectLst/>
                        </a:rPr>
                        <a:t>SDIO_D0</a:t>
                      </a:r>
                      <a:endParaRPr lang="en-US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500" u="none" strike="noStrike" dirty="0">
                          <a:effectLst/>
                        </a:rPr>
                        <a:t> 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87" marR="3987" marT="3987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0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F02101-D728-4CEA-8A0A-6A61E9FAAD9C}" type="datetime1">
              <a:rPr lang="en-US" smtClean="0"/>
              <a:pPr>
                <a:defRPr/>
              </a:pPr>
              <a:t>6/12/2015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|  Proprietary &amp; Confidential  |  © 2014 Multi-Tech Systems,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6CF84-9191-42E3-A5DE-5E8AEB66E079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393727"/>
              </p:ext>
            </p:extLst>
          </p:nvPr>
        </p:nvGraphicFramePr>
        <p:xfrm>
          <a:off x="228600" y="514363"/>
          <a:ext cx="8688748" cy="43433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544"/>
                <a:gridCol w="1175148"/>
                <a:gridCol w="501274"/>
                <a:gridCol w="690399"/>
                <a:gridCol w="749157"/>
                <a:gridCol w="633478"/>
                <a:gridCol w="1175148"/>
                <a:gridCol w="589410"/>
                <a:gridCol w="1448737"/>
                <a:gridCol w="594918"/>
                <a:gridCol w="778535"/>
              </a:tblGrid>
              <a:tr h="179571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Dragonfly (MTQ) pin out assignments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37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MTQ Pin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MTQ Name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UDK 2.0 Arduino pin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mbed</a:t>
                      </a:r>
                      <a:br>
                        <a:rPr lang="en-US" sz="700" u="none" strike="noStrike">
                          <a:effectLst/>
                        </a:rPr>
                      </a:br>
                      <a:r>
                        <a:rPr lang="en-US" sz="700" u="none" strike="noStrike">
                          <a:effectLst/>
                        </a:rPr>
                        <a:t>GPIO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Programming Interface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SPI Interface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I2C Interface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USARTs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Timer functions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SDIO Functions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u="none" strike="noStrike">
                          <a:effectLst/>
                        </a:rPr>
                        <a:t>ADC Channels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b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DBG_TX (mbed dbgTX)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I2C1_SCL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USART1_TX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TIM4_CH1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J_TCK/SWCLK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JTCK-SWCLK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J_TDI/C_MON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JTDI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SPI1_NSS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USART1_TX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TIM2_CH1/TIM2_ETR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J_RST/P_GOOD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JTRST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SPI1_MISO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I2C3_SDA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TIM3_CH1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IO_00/RXD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USART2_TX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TIM2_CH3, TIM5_CH3, TIM9_CH1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IO_01/DCD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SPI1_MOSI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TIM1_CH1N, TIM3_CH2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IO_02/RI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TIM1_CH3N, TIM3_CH4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290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IO_03/CTS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USART2_RTS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TIM2_CH2, TIM5_CH2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IO_04/MOSI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SPI1_MOSI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I2C1_SMBA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TIM3_CH2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IO_05/SCK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SPI1_SCK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TIM2_CH1/TIM2_ET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IO_06/SCL/SS1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I2C1_SCL, I2C3_SDA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TIM4_CH3, TIM10_CH1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PB_15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SPI2_MOSI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TIM1_CH3N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SPI2_MISO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19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IO_09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TIM1_CH2N, TIM3_CH3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ADC1_11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SPI2_SCK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TIM1_CH1N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A5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I2C3_SDA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MCO_2, TIM3_CH4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IO_15/SDA/SRDY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D14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SPI2_NSS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I2C1_SDA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TIM4_CH4, TIM11_CH1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IO_16/MISO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SPI1_MISO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TIM1_BKIN, TIM3_CH1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SDIO_CMD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ADC1_6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IO_17/SS2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D10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PC_8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TIM3_CH3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29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IO_18/RTS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PA_0 (WKUP)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USART2_CTS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TIM2_CH1/TIM2_ET, TIM5_CH1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IO_19/DSR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D5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I2C3_SMBA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USART1_TX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TIM1_CH2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IO_20/DTR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I2C3_SCL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MCO_1, TIM1_CH1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IO_21/TXD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USART2_RX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TIM2_CH4, TIM5_CH4, TIM9_CH2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ADC1_3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38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J_TDO/SWO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JTDO-SWO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SPI1_SCK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USART1_RX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TIM2_CH2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39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J_TMS/SWDIO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PA_13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JTMS-SWDIO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  <a:tr h="1346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40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DBG_RX (mbed dbgRX)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PB_7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 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I2C1_SDA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USART1_RX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TIM4_CH2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SDIO_D0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13" marR="5513" marT="5513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130128"/>
      </p:ext>
    </p:extLst>
  </p:cSld>
  <p:clrMapOvr>
    <a:masterClrMapping/>
  </p:clrMapOvr>
</p:sld>
</file>

<file path=ppt/theme/theme1.xml><?xml version="1.0" encoding="utf-8"?>
<a:theme xmlns:a="http://schemas.openxmlformats.org/drawingml/2006/main" name="Rebranded_PPT_Template_9-9-201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16531</TotalTime>
  <Words>2185</Words>
  <Application>Microsoft Office PowerPoint</Application>
  <PresentationFormat>On-screen Show (16:9)</PresentationFormat>
  <Paragraphs>1034</Paragraphs>
  <Slides>40</Slides>
  <Notes>38</Notes>
  <HiddenSlides>10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MS PGothic</vt:lpstr>
      <vt:lpstr>Arial</vt:lpstr>
      <vt:lpstr>Calibri</vt:lpstr>
      <vt:lpstr>Century Gothic</vt:lpstr>
      <vt:lpstr>Rebranded_PPT_Template_9-9-2014</vt:lpstr>
      <vt:lpstr>LAB Overview  mbed Instructions for MultiTech SocketModem ST processor/ Conductivity Sensor/ Sim/Aerport</vt:lpstr>
      <vt:lpstr>Lab Overview</vt:lpstr>
      <vt:lpstr>LAB Homework mbed Instructions for MultiTech Dragonfly</vt:lpstr>
      <vt:lpstr>Lab Overview</vt:lpstr>
      <vt:lpstr>Serial Port Install Software (prework)</vt:lpstr>
      <vt:lpstr>Setup mbed Account and Install Driver (prework)</vt:lpstr>
      <vt:lpstr>Setup mbed Account (prework)</vt:lpstr>
      <vt:lpstr>Windows Driver update (prework)</vt:lpstr>
      <vt:lpstr>Reference Only: Firmware Upgrade (MultiTech did this for you)</vt:lpstr>
      <vt:lpstr>Programs to download (prework)</vt:lpstr>
      <vt:lpstr>Programs to download (prework)</vt:lpstr>
      <vt:lpstr>LAB 1 mbed Instructions for MultiTech SocketModem Dragonfly/ Sensor/ Aeris Sim</vt:lpstr>
      <vt:lpstr>Lab Overview</vt:lpstr>
      <vt:lpstr>PowerPoint Presentation</vt:lpstr>
      <vt:lpstr>Cables and Power</vt:lpstr>
      <vt:lpstr>Hello World </vt:lpstr>
      <vt:lpstr>LAB: Get the Modem on the Network</vt:lpstr>
      <vt:lpstr>Dragonfly_Terminal </vt:lpstr>
      <vt:lpstr>Dragonfly_Terminal and AT Commands</vt:lpstr>
      <vt:lpstr>Send a PING</vt:lpstr>
      <vt:lpstr>Send a SMS inside mbed using MultiTech.h</vt:lpstr>
      <vt:lpstr>Why did I spend all that time with  AT Commands?</vt:lpstr>
      <vt:lpstr>LAB 2  mbed Instructions for Dragonfly / ST Sensor</vt:lpstr>
      <vt:lpstr>Replace Grove with STMicro Sensor Board</vt:lpstr>
      <vt:lpstr>LAB 3 mbed Instructions for Dragonfly/ Sensor/ Aeris Sim</vt:lpstr>
      <vt:lpstr>Connection Locations</vt:lpstr>
      <vt:lpstr>Dragonfly_Moisture</vt:lpstr>
      <vt:lpstr>Breathalyzer Demo</vt:lpstr>
      <vt:lpstr>15 Minute Break</vt:lpstr>
      <vt:lpstr>LAB 4  mbed Instructions for Sending data to the Cloud Aeris Aerport / Sensor/ Dragonfly</vt:lpstr>
      <vt:lpstr>LAB 4: IoT Platform</vt:lpstr>
      <vt:lpstr>Finding the Program</vt:lpstr>
      <vt:lpstr>Aeris Aerport 2b</vt:lpstr>
      <vt:lpstr>Aeris Aerport</vt:lpstr>
      <vt:lpstr>Aeris Aerport</vt:lpstr>
      <vt:lpstr>Aeris Create Container &amp; Subscription</vt:lpstr>
      <vt:lpstr>Compile &amp; Data</vt:lpstr>
      <vt:lpstr>LAB Review  Where to find/Is it repeatable/What do you need?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Jerry Berglund</dc:creator>
  <cp:lastModifiedBy>Paul Jaeger</cp:lastModifiedBy>
  <cp:revision>574</cp:revision>
  <cp:lastPrinted>2015-06-12T15:38:30Z</cp:lastPrinted>
  <dcterms:created xsi:type="dcterms:W3CDTF">2014-09-16T14:33:45Z</dcterms:created>
  <dcterms:modified xsi:type="dcterms:W3CDTF">2015-06-12T15:55:04Z</dcterms:modified>
</cp:coreProperties>
</file>